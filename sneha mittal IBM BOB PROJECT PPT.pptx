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22"/>
  </p:notesMasterIdLst>
  <p:sldIdLst>
    <p:sldId id="256" r:id="rId5"/>
    <p:sldId id="16140622" r:id="rId6"/>
    <p:sldId id="262" r:id="rId7"/>
    <p:sldId id="263" r:id="rId8"/>
    <p:sldId id="265" r:id="rId9"/>
    <p:sldId id="266" r:id="rId10"/>
    <p:sldId id="16140629" r:id="rId11"/>
    <p:sldId id="267" r:id="rId12"/>
    <p:sldId id="16140626" r:id="rId13"/>
    <p:sldId id="16140625" r:id="rId14"/>
    <p:sldId id="16140627" r:id="rId15"/>
    <p:sldId id="16140628" r:id="rId16"/>
    <p:sldId id="268" r:id="rId17"/>
    <p:sldId id="16140623" r:id="rId18"/>
    <p:sldId id="269" r:id="rId19"/>
    <p:sldId id="16140624" r:id="rId20"/>
    <p:sldId id="25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0" d="100"/>
          <a:sy n="70" d="100"/>
        </p:scale>
        <p:origin x="71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2296979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p:cNvSpPr>
            <a:spLocks noGrp="1"/>
          </p:cNvSpPr>
          <p:nvPr>
            <p:ph type="dt" sz="half" idx="10"/>
          </p:nvPr>
        </p:nvSpPr>
        <p:spPr/>
        <p:txBody>
          <a:bodyPr/>
          <a:lstStyle/>
          <a:p>
            <a:fld id="{ED291B17-9318-49DB-B28B-6E5994AE9581}" type="datetime1">
              <a:rPr lang="en-US" smtClean="0"/>
              <a:t>9/19/2026</a:t>
            </a:fld>
            <a:endParaRPr lang="en-US"/>
          </a:p>
        </p:txBody>
      </p:sp>
      <p:sp>
        <p:nvSpPr>
          <p:cNvPr id="9" name="Footer Placeholder 8"/>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78DD82B9-B8EE-4375-B6FF-88FA6ABB15D9}" type="datetime1">
              <a:rPr lang="en-US" smtClean="0"/>
              <a:t>9/19/2026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B2497495-0637-405E-AE64-5CC7506D51F5}" type="datetime1">
              <a:rPr lang="en-US" smtClean="0"/>
              <a:t>9/19/2026</a:t>
            </a:fld>
            <a:endParaRPr lang="en-US"/>
          </a:p>
        </p:txBody>
      </p:sp>
      <p:sp>
        <p:nvSpPr>
          <p:cNvPr id="9" name="Footer Placeholder 8"/>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9/19/2026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9/19/2026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9/19/2026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9/19/2026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7605951" y="6456916"/>
            <a:ext cx="2844799" cy="365125"/>
          </a:xfrm>
        </p:spPr>
        <p:txBody>
          <a:bodyPr/>
          <a:lstStyle/>
          <a:p>
            <a:fld id="{D82884F1-FFEA-405F-9602-3DCA865EDA4E}" type="datetime1">
              <a:rPr lang="en-US" smtClean="0"/>
              <a:t>9/19/2026</a:t>
            </a:fld>
            <a:endParaRPr lang="en-US"/>
          </a:p>
        </p:txBody>
      </p:sp>
      <p:sp>
        <p:nvSpPr>
          <p:cNvPr id="10" name="Footer Placeholder 9"/>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p:cNvSpPr>
            <a:spLocks noGrp="1"/>
          </p:cNvSpPr>
          <p:nvPr>
            <p:ph type="sldNum" sz="quarter" idx="12"/>
          </p:nvPr>
        </p:nvSpPr>
        <p:spPr>
          <a:xfrm>
            <a:off x="10558300" y="6456916"/>
            <a:ext cx="1052510" cy="365125"/>
          </a:xfrm>
        </p:spPr>
        <p:txBody>
          <a:bodyPr/>
          <a:lstStyle/>
          <a:p>
            <a:fld id="{3A98EE3D-8CD1-4C3F-BD1C-C98C9596463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9/19/2026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9/19/2026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p:cNvSpPr>
            <a:spLocks noGrp="1"/>
          </p:cNvSpPr>
          <p:nvPr>
            <p:ph type="dt" sz="half" idx="10"/>
          </p:nvPr>
        </p:nvSpPr>
        <p:spPr/>
        <p:txBody>
          <a:bodyPr/>
          <a:lstStyle/>
          <a:p>
            <a:fld id="{ED291B17-9318-49DB-B28B-6E5994AE9581}" type="datetime1">
              <a:rPr lang="en-US" smtClean="0"/>
              <a:t>9/19/2026</a:t>
            </a:fld>
            <a:endParaRPr lang="en-US"/>
          </a:p>
        </p:txBody>
      </p:sp>
      <p:sp>
        <p:nvSpPr>
          <p:cNvPr id="12" name="Footer Placeholder 11"/>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9/19/2026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p:cNvPicPr>
            <a:picLocks noChangeAspect="1"/>
          </p:cNvPicPr>
          <p:nvPr userDrawn="1"/>
        </p:nvPicPr>
        <p:blipFill>
          <a:blip r:embed="rId13"/>
          <a:stretch>
            <a:fillRect/>
          </a:stretch>
        </p:blipFill>
        <p:spPr>
          <a:xfrm>
            <a:off x="10485003" y="6437910"/>
            <a:ext cx="1125805" cy="36512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aistudio.google.com/" TargetMode="External"/><Relationship Id="rId2" Type="http://schemas.openxmlformats.org/officeDocument/2006/relationships/hyperlink" Target="https://bob.ibm.com/" TargetMode="External"/><Relationship Id="rId1" Type="http://schemas.openxmlformats.org/officeDocument/2006/relationships/slideLayout" Target="../slideLayouts/slideLayout2.xml"/><Relationship Id="rId4" Type="http://schemas.openxmlformats.org/officeDocument/2006/relationships/hyperlink" Target="https://docs.python.org/" TargetMode="Externa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mittalsneha102002-tech/Medication-Adherence-Tracker-for-Chronic-Patients.git"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59108" y="1821635"/>
            <a:ext cx="9144000" cy="977778"/>
          </a:xfrm>
        </p:spPr>
        <p:txBody>
          <a:bodyPr>
            <a:normAutofit fontScale="90000"/>
          </a:bodyPr>
          <a:lstStyle/>
          <a:p>
            <a:pPr algn="ctr"/>
            <a:r>
              <a:rPr lang="en-US" altLang="en-US" b="1">
                <a:solidFill>
                  <a:schemeClr val="accent1"/>
                </a:solidFill>
                <a:latin typeface="Arial" panose="020B0604020202020204" pitchFamily="34" charset="0"/>
                <a:cs typeface="Arial" panose="020B0604020202020204" pitchFamily="34" charset="0"/>
              </a:rPr>
              <a:t>Medication Adherence Tracker for Chronic Patients</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panose="020B0604020202020204"/>
                <a:cs typeface="Arial" panose="020B0604020202020204"/>
              </a:rPr>
              <a:t>CAPSTONE PROJECT</a:t>
            </a:r>
          </a:p>
        </p:txBody>
      </p:sp>
      <p:sp>
        <p:nvSpPr>
          <p:cNvPr id="4" name="TextBox 3"/>
          <p:cNvSpPr txBox="1"/>
          <p:nvPr/>
        </p:nvSpPr>
        <p:spPr>
          <a:xfrm>
            <a:off x="3117529" y="4586365"/>
            <a:ext cx="7980183"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anose="020B0604020202020204" pitchFamily="34" charset="0"/>
                <a:cs typeface="Arial" panose="020B0604020202020204" pitchFamily="34" charset="0"/>
              </a:rPr>
              <a:t>Presented By:</a:t>
            </a:r>
          </a:p>
          <a:p>
            <a:pPr marL="457200" indent="-457200">
              <a:buAutoNum type="arabicPeriod"/>
            </a:pPr>
            <a:r>
              <a:rPr lang="en-US" sz="2000" b="1" dirty="0">
                <a:solidFill>
                  <a:schemeClr val="accent1">
                    <a:lumMod val="75000"/>
                  </a:schemeClr>
                </a:solidFill>
                <a:latin typeface="Arial" panose="020B0604020202020204"/>
                <a:cs typeface="Arial" panose="020B0604020202020204"/>
              </a:rPr>
              <a:t>Student </a:t>
            </a:r>
            <a:r>
              <a:rPr lang="en-US" sz="2000" b="1" dirty="0" smtClean="0">
                <a:solidFill>
                  <a:schemeClr val="accent1">
                    <a:lumMod val="75000"/>
                  </a:schemeClr>
                </a:solidFill>
                <a:latin typeface="Arial" panose="020B0604020202020204"/>
                <a:cs typeface="Arial" panose="020B0604020202020204"/>
              </a:rPr>
              <a:t>Name- </a:t>
            </a:r>
            <a:r>
              <a:rPr lang="en-US" sz="2000" b="1" dirty="0" smtClean="0">
                <a:solidFill>
                  <a:schemeClr val="bg1"/>
                </a:solidFill>
                <a:latin typeface="Arial" panose="020B0604020202020204"/>
                <a:cs typeface="Arial" panose="020B0604020202020204"/>
              </a:rPr>
              <a:t>SNEHA MITTAL</a:t>
            </a:r>
            <a:endParaRPr lang="en-US" sz="2000" b="1" dirty="0">
              <a:solidFill>
                <a:schemeClr val="bg1"/>
              </a:solidFill>
              <a:latin typeface="Arial" panose="020B0604020202020204"/>
              <a:cs typeface="Arial" panose="020B0604020202020204"/>
            </a:endParaRPr>
          </a:p>
          <a:p>
            <a:pPr marL="457200" indent="-457200">
              <a:buAutoNum type="arabicPeriod"/>
            </a:pPr>
            <a:r>
              <a:rPr lang="en-US" sz="2000" b="1" dirty="0">
                <a:solidFill>
                  <a:schemeClr val="accent1">
                    <a:lumMod val="75000"/>
                  </a:schemeClr>
                </a:solidFill>
                <a:latin typeface="Arial" panose="020B0604020202020204"/>
                <a:cs typeface="Arial" panose="020B0604020202020204"/>
              </a:rPr>
              <a:t>College </a:t>
            </a:r>
            <a:r>
              <a:rPr lang="en-US" sz="2000" b="1" dirty="0" smtClean="0">
                <a:solidFill>
                  <a:schemeClr val="accent1">
                    <a:lumMod val="75000"/>
                  </a:schemeClr>
                </a:solidFill>
                <a:latin typeface="Arial" panose="020B0604020202020204"/>
                <a:cs typeface="Arial" panose="020B0604020202020204"/>
              </a:rPr>
              <a:t>Name- </a:t>
            </a:r>
            <a:r>
              <a:rPr lang="en-US" sz="2000" b="1" dirty="0" smtClean="0">
                <a:solidFill>
                  <a:schemeClr val="bg1"/>
                </a:solidFill>
                <a:latin typeface="Arial" panose="020B0604020202020204"/>
                <a:cs typeface="Arial" panose="020B0604020202020204"/>
              </a:rPr>
              <a:t>University </a:t>
            </a:r>
            <a:r>
              <a:rPr lang="en-US" sz="2000" b="1" dirty="0" smtClean="0">
                <a:solidFill>
                  <a:schemeClr val="bg1"/>
                </a:solidFill>
                <a:latin typeface="Arial" panose="020B0604020202020204"/>
                <a:cs typeface="Arial" panose="020B0604020202020204"/>
              </a:rPr>
              <a:t>of Delhi</a:t>
            </a:r>
            <a:endParaRPr lang="en-US" sz="2000" b="1" dirty="0">
              <a:solidFill>
                <a:schemeClr val="bg1"/>
              </a:solidFill>
              <a:latin typeface="Arial" panose="020B0604020202020204"/>
              <a:cs typeface="Arial" panose="020B0604020202020204"/>
            </a:endParaRPr>
          </a:p>
          <a:p>
            <a:pPr marL="457200" indent="-457200">
              <a:buAutoNum type="arabicPeriod"/>
            </a:pPr>
            <a:r>
              <a:rPr lang="en-US" sz="2000" b="1" dirty="0">
                <a:solidFill>
                  <a:schemeClr val="accent1">
                    <a:lumMod val="75000"/>
                  </a:schemeClr>
                </a:solidFill>
                <a:latin typeface="Arial" panose="020B0604020202020204"/>
                <a:cs typeface="Arial" panose="020B0604020202020204"/>
              </a:rPr>
              <a:t>Department </a:t>
            </a:r>
            <a:r>
              <a:rPr lang="en-US" sz="2000" b="1" dirty="0" smtClean="0">
                <a:solidFill>
                  <a:schemeClr val="accent1">
                    <a:lumMod val="75000"/>
                  </a:schemeClr>
                </a:solidFill>
                <a:latin typeface="Arial" panose="020B0604020202020204"/>
                <a:cs typeface="Arial" panose="020B0604020202020204"/>
              </a:rPr>
              <a:t>– </a:t>
            </a:r>
            <a:r>
              <a:rPr lang="en-US" sz="2000" b="1" dirty="0" smtClean="0">
                <a:solidFill>
                  <a:schemeClr val="bg1"/>
                </a:solidFill>
                <a:latin typeface="Arial" panose="020B0604020202020204"/>
                <a:cs typeface="Arial" panose="020B0604020202020204"/>
              </a:rPr>
              <a:t>BA (</a:t>
            </a:r>
            <a:r>
              <a:rPr lang="en-US" sz="2000" b="1" dirty="0" err="1" smtClean="0">
                <a:solidFill>
                  <a:schemeClr val="bg1"/>
                </a:solidFill>
                <a:latin typeface="Arial" panose="020B0604020202020204"/>
                <a:cs typeface="Arial" panose="020B0604020202020204"/>
              </a:rPr>
              <a:t>Hons</a:t>
            </a:r>
            <a:r>
              <a:rPr lang="en-US" sz="2000" b="1" dirty="0" smtClean="0">
                <a:solidFill>
                  <a:schemeClr val="bg1"/>
                </a:solidFill>
                <a:latin typeface="Arial" panose="020B0604020202020204"/>
                <a:cs typeface="Arial" panose="020B0604020202020204"/>
              </a:rPr>
              <a:t>) Political Science </a:t>
            </a:r>
            <a:endParaRPr lang="en-US" sz="2000" b="1" dirty="0">
              <a:solidFill>
                <a:schemeClr val="bg1"/>
              </a:solidFill>
              <a:latin typeface="Arial" panose="020B0604020202020204"/>
              <a:cs typeface="Arial" panose="020B0604020202020204"/>
            </a:endParaRPr>
          </a:p>
          <a:p>
            <a:r>
              <a:rPr lang="en-US" sz="2000" b="1" dirty="0">
                <a:solidFill>
                  <a:schemeClr val="accent1">
                    <a:lumMod val="75000"/>
                  </a:schemeClr>
                </a:solidFill>
                <a:latin typeface="Arial" panose="020B0604020202020204"/>
                <a:cs typeface="Arial" panose="020B0604020202020204"/>
              </a:rPr>
              <a:t>4.   AICTE </a:t>
            </a:r>
            <a:r>
              <a:rPr lang="en-US" b="1" dirty="0" smtClean="0">
                <a:solidFill>
                  <a:schemeClr val="accent1">
                    <a:lumMod val="75000"/>
                  </a:schemeClr>
                </a:solidFill>
                <a:latin typeface="Arial" panose="020B0604020202020204"/>
                <a:cs typeface="Arial" panose="020B0604020202020204"/>
              </a:rPr>
              <a:t>ID- </a:t>
            </a:r>
            <a:r>
              <a:rPr lang="en-IN" b="1" dirty="0">
                <a:solidFill>
                  <a:schemeClr val="bg1"/>
                </a:solidFill>
              </a:rPr>
              <a:t>STU6a40e1f387a181782637043</a:t>
            </a:r>
            <a:endParaRPr lang="en-US" sz="2000" b="1" dirty="0">
              <a:solidFill>
                <a:schemeClr val="bg1"/>
              </a:solidFill>
              <a:latin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panose="020B0604020202020204"/>
                <a:ea typeface="+mn-lt"/>
                <a:cs typeface="Arial" panose="020B0604020202020204"/>
              </a:rPr>
              <a:t>  </a:t>
            </a:r>
            <a:endParaRPr lang="en-US" dirty="0">
              <a:latin typeface="Arial" panose="020B0604020202020204"/>
              <a:cs typeface="Arial" panose="020B0604020202020204"/>
            </a:endParaRPr>
          </a:p>
          <a:p>
            <a:r>
              <a:rPr lang="en-US" sz="2000" b="1" dirty="0">
                <a:latin typeface="Arial" panose="020B0604020202020204"/>
                <a:ea typeface="+mn-lt"/>
                <a:cs typeface="Arial" panose="020B0604020202020204"/>
              </a:rPr>
              <a:t>Problem </a:t>
            </a:r>
            <a:r>
              <a:rPr lang="en-US" sz="2000" b="1" dirty="0" smtClean="0">
                <a:latin typeface="Arial" panose="020B0604020202020204"/>
                <a:ea typeface="+mn-lt"/>
                <a:cs typeface="Arial" panose="020B0604020202020204"/>
              </a:rPr>
              <a:t>Statement</a:t>
            </a:r>
            <a:endParaRPr lang="en-US" dirty="0">
              <a:latin typeface="Arial" panose="020B0604020202020204"/>
              <a:cs typeface="Arial" panose="020B0604020202020204"/>
            </a:endParaRPr>
          </a:p>
          <a:p>
            <a:r>
              <a:rPr lang="en-US" sz="2000" b="1" dirty="0">
                <a:latin typeface="Arial" panose="020B0604020202020204"/>
                <a:ea typeface="+mn-lt"/>
                <a:cs typeface="Arial" panose="020B0604020202020204"/>
              </a:rPr>
              <a:t>Proposed System/Solution</a:t>
            </a:r>
            <a:endParaRPr lang="en-US" dirty="0">
              <a:latin typeface="Arial" panose="020B0604020202020204"/>
              <a:cs typeface="Arial" panose="020B0604020202020204"/>
            </a:endParaRPr>
          </a:p>
          <a:p>
            <a:r>
              <a:rPr lang="en-US" sz="2000" b="1" dirty="0">
                <a:latin typeface="Arial" panose="020B0604020202020204"/>
                <a:ea typeface="+mn-lt"/>
                <a:cs typeface="Calibri" panose="020F0502020204030204"/>
              </a:rPr>
              <a:t>System </a:t>
            </a:r>
            <a:r>
              <a:rPr lang="en-US" sz="2000" b="1" dirty="0">
                <a:latin typeface="Arial" panose="020B0604020202020204"/>
                <a:ea typeface="+mn-lt"/>
                <a:cs typeface="+mn-lt"/>
              </a:rPr>
              <a:t>Development Approach </a:t>
            </a:r>
            <a:r>
              <a:rPr lang="en-US" sz="2000" dirty="0">
                <a:latin typeface="Arial" panose="020B0604020202020204"/>
                <a:ea typeface="+mn-lt"/>
                <a:cs typeface="+mn-lt"/>
              </a:rPr>
              <a:t>(Technology Used) </a:t>
            </a:r>
            <a:endParaRPr lang="en-US" dirty="0">
              <a:latin typeface="Arial" panose="020B0604020202020204"/>
              <a:ea typeface="+mn-lt"/>
              <a:cs typeface="+mn-lt"/>
            </a:endParaRPr>
          </a:p>
          <a:p>
            <a:r>
              <a:rPr lang="en-US" sz="2000" b="1" dirty="0">
                <a:latin typeface="Arial" panose="020B0604020202020204"/>
                <a:ea typeface="+mn-lt"/>
                <a:cs typeface="+mn-lt"/>
              </a:rPr>
              <a:t>Algorithm &amp; Deployment  </a:t>
            </a:r>
            <a:endParaRPr lang="en-US" dirty="0">
              <a:latin typeface="Arial" panose="020B0604020202020204"/>
              <a:cs typeface="Calibri" panose="020F0502020204030204"/>
            </a:endParaRPr>
          </a:p>
          <a:p>
            <a:r>
              <a:rPr lang="en-US" sz="2000" b="1" dirty="0">
                <a:latin typeface="Arial" panose="020B0604020202020204"/>
                <a:ea typeface="+mn-lt"/>
                <a:cs typeface="Arial" panose="020B0604020202020204"/>
              </a:rPr>
              <a:t>Result</a:t>
            </a:r>
          </a:p>
          <a:p>
            <a:r>
              <a:rPr lang="en-US" sz="2000" b="1" dirty="0">
                <a:latin typeface="Arial" panose="020B0604020202020204"/>
                <a:ea typeface="+mn-lt"/>
                <a:cs typeface="Arial" panose="020B0604020202020204"/>
              </a:rPr>
              <a:t>Conclusion</a:t>
            </a:r>
            <a:endParaRPr lang="en-US" dirty="0">
              <a:latin typeface="Arial" panose="020B0604020202020204"/>
              <a:cs typeface="Arial" panose="020B0604020202020204"/>
            </a:endParaRPr>
          </a:p>
          <a:p>
            <a:r>
              <a:rPr lang="en-US" sz="2000" b="1" dirty="0">
                <a:latin typeface="Arial" panose="020B0604020202020204"/>
                <a:ea typeface="+mn-lt"/>
                <a:cs typeface="Arial" panose="020B0604020202020204"/>
              </a:rPr>
              <a:t>Future Scope</a:t>
            </a:r>
          </a:p>
          <a:p>
            <a:r>
              <a:rPr lang="en-US" sz="2000" b="1" dirty="0">
                <a:latin typeface="Arial" panose="020B0604020202020204"/>
                <a:ea typeface="+mn-lt"/>
                <a:cs typeface="Arial" panose="020B0604020202020204"/>
              </a:rPr>
              <a:t>References</a:t>
            </a:r>
            <a:endParaRPr lang="en-US" dirty="0">
              <a:latin typeface="Arial" panose="020B0604020202020204"/>
              <a:cs typeface="Arial" panose="020B0604020202020204"/>
            </a:endParaRPr>
          </a:p>
          <a:p>
            <a:endParaRPr lang="en-US" dirty="0">
              <a:latin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p:cNvSpPr>
            <a:spLocks noGrp="1"/>
          </p:cNvSpPr>
          <p:nvPr>
            <p:ph idx="1"/>
          </p:nvPr>
        </p:nvSpPr>
        <p:spPr>
          <a:xfrm>
            <a:off x="452403" y="1237632"/>
            <a:ext cx="11029615" cy="4673324"/>
          </a:xfrm>
        </p:spPr>
        <p:txBody>
          <a:bodyPr/>
          <a:lstStyle/>
          <a:p>
            <a:pPr marL="0" indent="0">
              <a:buNone/>
            </a:pPr>
            <a:r>
              <a:rPr lang="en-US"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Chronic disease patients, particularly those living with diabetes, hypertension, and other long-term conditions, often struggle to follow their prescribed medication schedules consistently due to forgetfulness, complex dosing routines, side effects, lack of awareness, or limited support. Missed or incorrect medication doses can lead to poor disease management, worsening symptoms, avoidable complications, and increased healthcare costs. At the same time, caregivers and doctors often have little or no reliable, real-time visibility into a patient's actual medication adherence and must </a:t>
            </a:r>
            <a:r>
              <a:rPr lang="en-US" b="1" dirty="0">
                <a:solidFill>
                  <a:schemeClr val="tx1"/>
                </a:solidFill>
                <a:latin typeface="Agency FB" panose="020B0503020202020204" pitchFamily="34" charset="0"/>
                <a:ea typeface="Arial Unicode MS" panose="020B0604020202020204" pitchFamily="34" charset="-128"/>
                <a:cs typeface="Arial Unicode MS" panose="020B0604020202020204" pitchFamily="34" charset="-128"/>
              </a:rPr>
              <a:t>depend</a:t>
            </a:r>
            <a:r>
              <a:rPr lang="en-US"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 on self-reported information, which may be incomplete or inaccurate. </a:t>
            </a:r>
            <a:r>
              <a:rPr lang="en-US" b="1" dirty="0" smtClean="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 </a:t>
            </a:r>
            <a:r>
              <a:rPr lang="en-US"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Therefore, there is a need for a simple, reliable, and accessible solution that can help patients follow their medication schedules while enabling caregivers and healthcare providers to monitor adherence and intervene promptly when necessary.</a:t>
            </a:r>
            <a:endParaRPr lang="en-IN"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p:cNvSpPr>
            <a:spLocks noGrp="1"/>
          </p:cNvSpPr>
          <p:nvPr>
            <p:ph idx="1"/>
          </p:nvPr>
        </p:nvSpPr>
        <p:spPr>
          <a:xfrm>
            <a:off x="335535" y="1193514"/>
            <a:ext cx="11613485" cy="5563973"/>
          </a:xfrm>
        </p:spPr>
        <p:txBody>
          <a:bodyPr vert="horz" lIns="91440" tIns="45720" rIns="91440" bIns="45720" rtlCol="0" anchor="ctr">
            <a:noAutofit/>
          </a:bodyPr>
          <a:lstStyle/>
          <a:p>
            <a:pPr marL="0" indent="0">
              <a:buNone/>
            </a:pPr>
            <a:endParaRPr lang="en-US" sz="1200" dirty="0" smtClean="0"/>
          </a:p>
          <a:p>
            <a:pPr marL="0" indent="0">
              <a:buNone/>
            </a:pPr>
            <a:endParaRPr lang="en-US" sz="1200" dirty="0"/>
          </a:p>
          <a:p>
            <a:pPr marL="0" indent="0">
              <a:buNone/>
            </a:pPr>
            <a:endParaRPr lang="en-US" sz="1200" dirty="0" smtClean="0"/>
          </a:p>
          <a:p>
            <a:pPr marL="0" indent="0">
              <a:buNone/>
            </a:pPr>
            <a:endParaRPr lang="en-US" sz="1200" dirty="0"/>
          </a:p>
          <a:p>
            <a:pPr marL="0" indent="0">
              <a:buNone/>
            </a:pPr>
            <a:endParaRPr lang="en-US" sz="1200" dirty="0" smtClean="0"/>
          </a:p>
          <a:p>
            <a:pPr marL="0" indent="0">
              <a:buNone/>
            </a:pPr>
            <a:endParaRPr lang="en-US" sz="1200" dirty="0"/>
          </a:p>
          <a:p>
            <a:pPr marL="0" indent="0">
              <a:buNone/>
            </a:pPr>
            <a:endParaRPr lang="en-US" sz="1200" dirty="0" smtClean="0"/>
          </a:p>
          <a:p>
            <a:pPr marL="0" indent="0">
              <a:buNone/>
            </a:pPr>
            <a:endParaRPr lang="en-US" sz="1200" dirty="0" smtClean="0"/>
          </a:p>
          <a:p>
            <a:pPr marL="0" indent="0">
              <a:buNone/>
            </a:pPr>
            <a:endParaRPr lang="en-US" sz="1200" dirty="0" smtClean="0"/>
          </a:p>
          <a:p>
            <a:pPr marL="0" indent="0">
              <a:buNone/>
            </a:pPr>
            <a:endParaRPr lang="en-US" sz="1200" dirty="0"/>
          </a:p>
          <a:p>
            <a:pPr marL="0" indent="0">
              <a:buNone/>
            </a:pPr>
            <a:endParaRPr lang="en-US" sz="1200" dirty="0" smtClean="0"/>
          </a:p>
          <a:p>
            <a:pPr marL="0" indent="0">
              <a:buNone/>
            </a:pPr>
            <a:endParaRPr lang="en-US" sz="1200" dirty="0"/>
          </a:p>
          <a:p>
            <a:pPr marL="0" indent="0">
              <a:buNone/>
            </a:pPr>
            <a:endParaRPr lang="en-US" sz="1200" dirty="0" smtClean="0"/>
          </a:p>
          <a:p>
            <a:pPr marL="0" indent="0">
              <a:buNone/>
            </a:pPr>
            <a:endParaRPr lang="en-US" sz="1200" dirty="0"/>
          </a:p>
          <a:p>
            <a:pPr marL="0" indent="0">
              <a:buNone/>
            </a:pPr>
            <a:endParaRPr lang="en-US" sz="1200" dirty="0" smtClean="0"/>
          </a:p>
          <a:p>
            <a:pPr marL="0" indent="0">
              <a:buNone/>
            </a:pPr>
            <a:r>
              <a:rPr lang="en-US" sz="1200" dirty="0" smtClean="0">
                <a:latin typeface="Arial" panose="020B0604020202020204" pitchFamily="34" charset="0"/>
                <a:cs typeface="Arial" panose="020B0604020202020204" pitchFamily="34" charset="0"/>
              </a:rPr>
              <a:t>The </a:t>
            </a:r>
            <a:r>
              <a:rPr lang="en-US" sz="1200" dirty="0">
                <a:latin typeface="Arial" panose="020B0604020202020204" pitchFamily="34" charset="0"/>
                <a:cs typeface="Arial" panose="020B0604020202020204" pitchFamily="34" charset="0"/>
              </a:rPr>
              <a:t>proposed solution is </a:t>
            </a:r>
            <a:r>
              <a:rPr lang="en-US" sz="1200" b="1" dirty="0">
                <a:solidFill>
                  <a:schemeClr val="tx1"/>
                </a:solidFill>
                <a:latin typeface="Arial" panose="020B0604020202020204" pitchFamily="34" charset="0"/>
                <a:cs typeface="Arial" panose="020B0604020202020204" pitchFamily="34" charset="0"/>
              </a:rPr>
              <a:t>Medication Adherence Tracker for Chronic </a:t>
            </a:r>
            <a:r>
              <a:rPr lang="en-US" sz="1200" b="1" dirty="0" smtClean="0">
                <a:solidFill>
                  <a:schemeClr val="tx1"/>
                </a:solidFill>
                <a:latin typeface="Arial" panose="020B0604020202020204" pitchFamily="34" charset="0"/>
                <a:cs typeface="Arial" panose="020B0604020202020204" pitchFamily="34" charset="0"/>
              </a:rPr>
              <a:t>Patients </a:t>
            </a:r>
            <a:r>
              <a:rPr lang="en-US" sz="1200" dirty="0" smtClean="0">
                <a:latin typeface="Arial" panose="020B0604020202020204" pitchFamily="34" charset="0"/>
                <a:cs typeface="Arial" panose="020B0604020202020204" pitchFamily="34" charset="0"/>
              </a:rPr>
              <a:t>designed </a:t>
            </a:r>
            <a:r>
              <a:rPr lang="en-US" sz="1200" dirty="0">
                <a:latin typeface="Arial" panose="020B0604020202020204" pitchFamily="34" charset="0"/>
                <a:cs typeface="Arial" panose="020B0604020202020204" pitchFamily="34" charset="0"/>
              </a:rPr>
              <a:t>to help chronic disease patients, particularly those managing diabetes, hypertension, and other long-term conditions, take their medications correctly and on time. The system will combine medication reminders, adherence tracking, and real-time notifications to support patients while providing caregivers and healthcare providers with meaningful visibility into medication-taking patterns</a:t>
            </a:r>
            <a:r>
              <a:rPr lang="en-US" sz="1200" dirty="0" smtClean="0">
                <a:latin typeface="Arial" panose="020B0604020202020204" pitchFamily="34" charset="0"/>
                <a:cs typeface="Arial" panose="020B0604020202020204" pitchFamily="34" charset="0"/>
              </a:rPr>
              <a:t>.</a:t>
            </a:r>
          </a:p>
          <a:p>
            <a:pPr marL="0" indent="0">
              <a:buNone/>
            </a:pPr>
            <a:r>
              <a:rPr lang="en-US" sz="1200" b="1" dirty="0" smtClean="0">
                <a:solidFill>
                  <a:schemeClr val="tx1"/>
                </a:solidFill>
                <a:latin typeface="Arial" panose="020B0604020202020204" pitchFamily="34" charset="0"/>
                <a:cs typeface="Arial" panose="020B0604020202020204" pitchFamily="34" charset="0"/>
              </a:rPr>
              <a:t>Medication Scheduling </a:t>
            </a:r>
            <a:r>
              <a:rPr lang="en-US" sz="1200" dirty="0" smtClean="0">
                <a:latin typeface="Arial" panose="020B0604020202020204" pitchFamily="34" charset="0"/>
                <a:cs typeface="Arial" panose="020B0604020202020204" pitchFamily="34" charset="0"/>
              </a:rPr>
              <a:t>- Patients </a:t>
            </a:r>
            <a:r>
              <a:rPr lang="en-US" sz="1200" dirty="0">
                <a:latin typeface="Arial" panose="020B0604020202020204" pitchFamily="34" charset="0"/>
                <a:cs typeface="Arial" panose="020B0604020202020204" pitchFamily="34" charset="0"/>
              </a:rPr>
              <a:t>can add prescriptions, dosage details, and medication timings to create personalized </a:t>
            </a:r>
            <a:r>
              <a:rPr lang="en-US" sz="1200" dirty="0" smtClean="0">
                <a:latin typeface="Arial" panose="020B0604020202020204" pitchFamily="34" charset="0"/>
                <a:cs typeface="Arial" panose="020B0604020202020204" pitchFamily="34" charset="0"/>
              </a:rPr>
              <a:t>schedules.</a:t>
            </a:r>
          </a:p>
          <a:p>
            <a:pPr marL="0" indent="0">
              <a:buNone/>
            </a:pPr>
            <a:r>
              <a:rPr lang="en-US" sz="1200" b="1" dirty="0" smtClean="0">
                <a:solidFill>
                  <a:schemeClr val="tx1"/>
                </a:solidFill>
                <a:latin typeface="Arial" panose="020B0604020202020204" pitchFamily="34" charset="0"/>
                <a:cs typeface="Arial" panose="020B0604020202020204" pitchFamily="34" charset="0"/>
              </a:rPr>
              <a:t>Smart Reminders</a:t>
            </a:r>
            <a:r>
              <a:rPr lang="en-US" sz="1200" dirty="0" smtClean="0">
                <a:latin typeface="Arial" panose="020B0604020202020204" pitchFamily="34" charset="0"/>
                <a:cs typeface="Arial" panose="020B0604020202020204" pitchFamily="34" charset="0"/>
              </a:rPr>
              <a:t> - Timely </a:t>
            </a:r>
            <a:r>
              <a:rPr lang="en-US" sz="1200" dirty="0">
                <a:latin typeface="Arial" panose="020B0604020202020204" pitchFamily="34" charset="0"/>
                <a:cs typeface="Arial" panose="020B0604020202020204" pitchFamily="34" charset="0"/>
              </a:rPr>
              <a:t>notifications remind patients when medications are due, helping reduce forgetfulness and missed </a:t>
            </a:r>
            <a:r>
              <a:rPr lang="en-US" sz="1200" dirty="0" smtClean="0">
                <a:latin typeface="Arial" panose="020B0604020202020204" pitchFamily="34" charset="0"/>
                <a:cs typeface="Arial" panose="020B0604020202020204" pitchFamily="34" charset="0"/>
              </a:rPr>
              <a:t>doses. </a:t>
            </a:r>
          </a:p>
          <a:p>
            <a:pPr marL="0" indent="0">
              <a:buNone/>
            </a:pPr>
            <a:r>
              <a:rPr lang="en-US" sz="1200" b="1" dirty="0" smtClean="0">
                <a:solidFill>
                  <a:schemeClr val="tx1"/>
                </a:solidFill>
                <a:latin typeface="Arial" panose="020B0604020202020204" pitchFamily="34" charset="0"/>
                <a:cs typeface="Arial" panose="020B0604020202020204" pitchFamily="34" charset="0"/>
              </a:rPr>
              <a:t>Adherence Tracking </a:t>
            </a:r>
            <a:r>
              <a:rPr lang="en-US" sz="1200" dirty="0" smtClean="0">
                <a:latin typeface="Arial" panose="020B0604020202020204" pitchFamily="34" charset="0"/>
                <a:cs typeface="Arial" panose="020B0604020202020204" pitchFamily="34" charset="0"/>
              </a:rPr>
              <a:t>- The </a:t>
            </a:r>
            <a:r>
              <a:rPr lang="en-US" sz="1200" dirty="0">
                <a:latin typeface="Arial" panose="020B0604020202020204" pitchFamily="34" charset="0"/>
                <a:cs typeface="Arial" panose="020B0604020202020204" pitchFamily="34" charset="0"/>
              </a:rPr>
              <a:t>system records dose confirmations, missed doses, skipped doses, and delays to create an adherence history</a:t>
            </a:r>
            <a:r>
              <a:rPr lang="en-US" sz="1200" dirty="0" smtClean="0">
                <a:latin typeface="Arial" panose="020B0604020202020204" pitchFamily="34" charset="0"/>
                <a:cs typeface="Arial" panose="020B0604020202020204" pitchFamily="34" charset="0"/>
              </a:rPr>
              <a:t>.</a:t>
            </a:r>
          </a:p>
          <a:p>
            <a:pPr marL="0" indent="0">
              <a:buNone/>
            </a:pPr>
            <a:r>
              <a:rPr lang="en-US" sz="1200" b="1" dirty="0">
                <a:solidFill>
                  <a:schemeClr val="tx1"/>
                </a:solidFill>
                <a:latin typeface="Arial" panose="020B0604020202020204" pitchFamily="34" charset="0"/>
                <a:cs typeface="Arial" panose="020B0604020202020204" pitchFamily="34" charset="0"/>
              </a:rPr>
              <a:t>Caregiver &amp; Provider </a:t>
            </a:r>
            <a:r>
              <a:rPr lang="en-US" sz="1200" b="1" dirty="0" smtClean="0">
                <a:solidFill>
                  <a:schemeClr val="tx1"/>
                </a:solidFill>
                <a:latin typeface="Arial" panose="020B0604020202020204" pitchFamily="34" charset="0"/>
                <a:cs typeface="Arial" panose="020B0604020202020204" pitchFamily="34" charset="0"/>
              </a:rPr>
              <a:t>Monitoring </a:t>
            </a:r>
            <a:r>
              <a:rPr lang="en-US" sz="1200" dirty="0" smtClean="0">
                <a:latin typeface="Arial" panose="020B0604020202020204" pitchFamily="34" charset="0"/>
                <a:cs typeface="Arial" panose="020B0604020202020204" pitchFamily="34" charset="0"/>
              </a:rPr>
              <a:t>- Authorized </a:t>
            </a:r>
            <a:r>
              <a:rPr lang="en-US" sz="1200" dirty="0">
                <a:latin typeface="Arial" panose="020B0604020202020204" pitchFamily="34" charset="0"/>
                <a:cs typeface="Arial" panose="020B0604020202020204" pitchFamily="34" charset="0"/>
              </a:rPr>
              <a:t>caregivers and healthcare professionals can view adherence summaries and receive alerts when attention may be needed.</a:t>
            </a:r>
          </a:p>
          <a:p>
            <a:r>
              <a:rPr lang="en-US" sz="1200" b="1" dirty="0">
                <a:latin typeface="Arial" panose="020B0604020202020204" pitchFamily="34" charset="0"/>
                <a:cs typeface="Arial" panose="020B0604020202020204" pitchFamily="34" charset="0"/>
              </a:rPr>
              <a:t>Personalized medication schedules</a:t>
            </a:r>
            <a:r>
              <a:rPr lang="en-US" sz="1200" dirty="0">
                <a:latin typeface="Arial" panose="020B0604020202020204" pitchFamily="34" charset="0"/>
                <a:cs typeface="Arial" panose="020B0604020202020204" pitchFamily="34" charset="0"/>
              </a:rPr>
              <a:t>: Supports different medications, dosages, frequencies, and timing requirements.</a:t>
            </a:r>
          </a:p>
          <a:p>
            <a:r>
              <a:rPr lang="en-US" sz="1200" b="1" dirty="0">
                <a:latin typeface="Arial" panose="020B0604020202020204" pitchFamily="34" charset="0"/>
                <a:cs typeface="Arial" panose="020B0604020202020204" pitchFamily="34" charset="0"/>
              </a:rPr>
              <a:t>Automated reminders</a:t>
            </a:r>
            <a:r>
              <a:rPr lang="en-US" sz="1200" dirty="0">
                <a:latin typeface="Arial" panose="020B0604020202020204" pitchFamily="34" charset="0"/>
                <a:cs typeface="Arial" panose="020B0604020202020204" pitchFamily="34" charset="0"/>
              </a:rPr>
              <a:t>: Sends alerts through the selected application or notification channel.</a:t>
            </a:r>
          </a:p>
          <a:p>
            <a:r>
              <a:rPr lang="en-US" sz="1200" b="1" dirty="0">
                <a:latin typeface="Arial" panose="020B0604020202020204" pitchFamily="34" charset="0"/>
                <a:cs typeface="Arial" panose="020B0604020202020204" pitchFamily="34" charset="0"/>
              </a:rPr>
              <a:t>Dose confirmation</a:t>
            </a:r>
            <a:r>
              <a:rPr lang="en-US" sz="1200" dirty="0">
                <a:latin typeface="Arial" panose="020B0604020202020204" pitchFamily="34" charset="0"/>
                <a:cs typeface="Arial" panose="020B0604020202020204" pitchFamily="34" charset="0"/>
              </a:rPr>
              <a:t>: Allows patients to mark medication as taken, skipped, or postponed.</a:t>
            </a:r>
          </a:p>
          <a:p>
            <a:r>
              <a:rPr lang="en-US" sz="1200" b="1" dirty="0">
                <a:latin typeface="Arial" panose="020B0604020202020204" pitchFamily="34" charset="0"/>
                <a:cs typeface="Arial" panose="020B0604020202020204" pitchFamily="34" charset="0"/>
              </a:rPr>
              <a:t>Missed-dose alerts</a:t>
            </a:r>
            <a:r>
              <a:rPr lang="en-US" sz="1200" dirty="0">
                <a:latin typeface="Arial" panose="020B0604020202020204" pitchFamily="34" charset="0"/>
                <a:cs typeface="Arial" panose="020B0604020202020204" pitchFamily="34" charset="0"/>
              </a:rPr>
              <a:t>: Notifies caregivers when predefined conditions are met.</a:t>
            </a:r>
          </a:p>
          <a:p>
            <a:r>
              <a:rPr lang="en-US" sz="1200" b="1" dirty="0">
                <a:latin typeface="Arial" panose="020B0604020202020204" pitchFamily="34" charset="0"/>
                <a:cs typeface="Arial" panose="020B0604020202020204" pitchFamily="34" charset="0"/>
              </a:rPr>
              <a:t>Adherence dashboard</a:t>
            </a:r>
            <a:r>
              <a:rPr lang="en-US" sz="1200" dirty="0">
                <a:latin typeface="Arial" panose="020B0604020202020204" pitchFamily="34" charset="0"/>
                <a:cs typeface="Arial" panose="020B0604020202020204" pitchFamily="34" charset="0"/>
              </a:rPr>
              <a:t>: Displays medication history, missed doses, and adherence trends.</a:t>
            </a:r>
          </a:p>
          <a:p>
            <a:r>
              <a:rPr lang="en-US" sz="1200" b="1" dirty="0">
                <a:latin typeface="Arial" panose="020B0604020202020204" pitchFamily="34" charset="0"/>
                <a:cs typeface="Arial" panose="020B0604020202020204" pitchFamily="34" charset="0"/>
              </a:rPr>
              <a:t>Multi-user access</a:t>
            </a:r>
            <a:r>
              <a:rPr lang="en-US" sz="1200" dirty="0">
                <a:latin typeface="Arial" panose="020B0604020202020204" pitchFamily="34" charset="0"/>
                <a:cs typeface="Arial" panose="020B0604020202020204" pitchFamily="34" charset="0"/>
              </a:rPr>
              <a:t>: Provides separate interfaces for patients, caregivers, and healthcare providers, subject to authorization.</a:t>
            </a:r>
          </a:p>
          <a:p>
            <a:r>
              <a:rPr lang="en-US" sz="1200" b="1" dirty="0">
                <a:latin typeface="Arial" panose="020B0604020202020204" pitchFamily="34" charset="0"/>
                <a:cs typeface="Arial" panose="020B0604020202020204" pitchFamily="34" charset="0"/>
              </a:rPr>
              <a:t>Secure data management</a:t>
            </a:r>
            <a:r>
              <a:rPr lang="en-US" sz="1200" dirty="0">
                <a:latin typeface="Arial" panose="020B0604020202020204" pitchFamily="34" charset="0"/>
                <a:cs typeface="Arial" panose="020B0604020202020204" pitchFamily="34" charset="0"/>
              </a:rPr>
              <a:t>: Protects sensitive health information through authentication, access controls, and secure storage.</a:t>
            </a:r>
          </a:p>
          <a:p>
            <a:r>
              <a:rPr lang="en-US" sz="1200" b="1" dirty="0">
                <a:latin typeface="Arial" panose="020B0604020202020204" pitchFamily="34" charset="0"/>
                <a:cs typeface="Arial" panose="020B0604020202020204" pitchFamily="34" charset="0"/>
              </a:rPr>
              <a:t>Accessibility-focused design</a:t>
            </a:r>
            <a:r>
              <a:rPr lang="en-US" sz="1200" dirty="0">
                <a:latin typeface="Arial" panose="020B0604020202020204" pitchFamily="34" charset="0"/>
                <a:cs typeface="Arial" panose="020B0604020202020204" pitchFamily="34" charset="0"/>
              </a:rPr>
              <a:t>: Uses a simple interface, readable text, and clear notifications to support users with varying levels of digital literacy.</a:t>
            </a:r>
          </a:p>
          <a:p>
            <a:pPr marL="0" indent="0">
              <a:buNone/>
            </a:pPr>
            <a:endParaRPr lang="en-US" sz="1200" dirty="0">
              <a:latin typeface="Arial" panose="020B0604020202020204" pitchFamily="34" charset="0"/>
              <a:cs typeface="Arial" panose="020B0604020202020204" pitchFamily="34" charset="0"/>
            </a:endParaRPr>
          </a:p>
          <a:p>
            <a:pPr marL="0" indent="0">
              <a:buNone/>
            </a:pPr>
            <a:endParaRPr lang="en-US" sz="1200" dirty="0"/>
          </a:p>
          <a:p>
            <a:pPr marL="0" indent="0">
              <a:buNone/>
            </a:pPr>
            <a:endParaRPr lang="en-US" sz="1200" dirty="0" smtClean="0"/>
          </a:p>
          <a:p>
            <a:pPr marL="0" indent="0">
              <a:buNone/>
            </a:pPr>
            <a:endParaRPr lang="en-US" sz="1200" b="1" dirty="0">
              <a:latin typeface="Calibri" panose="020F0502020204030204"/>
              <a:cs typeface="Calibri" panose="020F0502020204030204"/>
            </a:endParaRPr>
          </a:p>
          <a:p>
            <a:pPr marL="0" indent="0">
              <a:buNone/>
            </a:pPr>
            <a:endParaRPr lang="en-US" sz="1200" b="1" dirty="0" smtClean="0">
              <a:latin typeface="Calibri" panose="020F0502020204030204"/>
              <a:cs typeface="Calibri" panose="020F0502020204030204"/>
            </a:endParaRPr>
          </a:p>
          <a:p>
            <a:pPr marL="0" indent="0">
              <a:buNone/>
            </a:pPr>
            <a:endParaRPr lang="en-US" sz="1200" b="1" dirty="0">
              <a:latin typeface="Calibri" panose="020F0502020204030204"/>
              <a:cs typeface="Calibri" panose="020F0502020204030204"/>
            </a:endParaRPr>
          </a:p>
          <a:p>
            <a:pPr marL="0" indent="0">
              <a:buNone/>
            </a:pPr>
            <a:endParaRPr lang="en-US" sz="1200" b="1" dirty="0" smtClean="0">
              <a:latin typeface="Calibri" panose="020F0502020204030204"/>
              <a:cs typeface="Calibri" panose="020F0502020204030204"/>
            </a:endParaRPr>
          </a:p>
          <a:p>
            <a:pPr marL="0" indent="0">
              <a:buNone/>
            </a:pPr>
            <a:endParaRPr lang="en-US" sz="1200" b="1" dirty="0">
              <a:latin typeface="Calibri" panose="020F0502020204030204"/>
              <a:cs typeface="Calibri" panose="020F0502020204030204"/>
            </a:endParaRPr>
          </a:p>
          <a:p>
            <a:pPr marL="0" indent="0">
              <a:buNone/>
            </a:pPr>
            <a:endParaRPr lang="en-US" sz="1200" b="1" dirty="0" smtClean="0">
              <a:latin typeface="Calibri" panose="020F0502020204030204"/>
              <a:cs typeface="Calibri" panose="020F0502020204030204"/>
            </a:endParaRPr>
          </a:p>
          <a:p>
            <a:pPr marL="0" indent="0">
              <a:buNone/>
            </a:pPr>
            <a:endParaRPr lang="en-US" sz="1200" b="1" dirty="0">
              <a:latin typeface="Calibri" panose="020F0502020204030204"/>
              <a:cs typeface="Calibri" panose="020F0502020204030204"/>
            </a:endParaRPr>
          </a:p>
          <a:p>
            <a:pPr marL="0" indent="0">
              <a:buNone/>
            </a:pPr>
            <a:endParaRPr lang="en-US" sz="1200" b="1" dirty="0" smtClean="0">
              <a:latin typeface="Calibri" panose="020F0502020204030204"/>
              <a:cs typeface="Calibri" panose="020F0502020204030204"/>
            </a:endParaRPr>
          </a:p>
          <a:p>
            <a:pPr marL="0" indent="0">
              <a:buNone/>
            </a:pPr>
            <a:endParaRPr lang="en-US" sz="1200" b="1" dirty="0">
              <a:latin typeface="Calibri" panose="020F0502020204030204"/>
              <a:cs typeface="Calibri" panose="020F0502020204030204"/>
            </a:endParaRPr>
          </a:p>
          <a:p>
            <a:pPr marL="0" indent="0">
              <a:buNone/>
            </a:pPr>
            <a:endParaRPr lang="en-US" sz="1200" b="1" dirty="0" smtClean="0">
              <a:latin typeface="Calibri" panose="020F0502020204030204"/>
              <a:cs typeface="Calibri" panose="020F0502020204030204"/>
            </a:endParaRPr>
          </a:p>
          <a:p>
            <a:pPr marL="0" indent="0">
              <a:buNone/>
            </a:pPr>
            <a:endParaRPr lang="en-US" sz="1200" b="1" dirty="0">
              <a:latin typeface="Calibri" panose="020F0502020204030204"/>
              <a:cs typeface="Calibri" panose="020F0502020204030204"/>
            </a:endParaRPr>
          </a:p>
          <a:p>
            <a:pPr marL="0" indent="0">
              <a:buNone/>
            </a:pPr>
            <a:endParaRPr lang="en-US" sz="1200" b="1" dirty="0" smtClean="0">
              <a:latin typeface="Calibri" panose="020F0502020204030204"/>
              <a:cs typeface="Calibri" panose="020F0502020204030204"/>
            </a:endParaRPr>
          </a:p>
          <a:p>
            <a:pPr marL="0" indent="0">
              <a:buNone/>
            </a:pPr>
            <a:endParaRPr lang="en-IN" sz="1200" b="1" dirty="0">
              <a:latin typeface="Calibri" panose="020F0502020204030204"/>
              <a:cs typeface="Calibri" panose="020F0502020204030204"/>
            </a:endParaRPr>
          </a:p>
          <a:p>
            <a:pPr marL="0" indent="0">
              <a:buNone/>
            </a:pP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panose="020B0604020202020204"/>
                <a:ea typeface="+mj-lt"/>
                <a:cs typeface="Arial" panose="020B0604020202020204"/>
              </a:rPr>
              <a:t>System  Approach</a:t>
            </a:r>
            <a:endParaRPr lang="en-US" sz="4400">
              <a:solidFill>
                <a:schemeClr val="accent1"/>
              </a:solidFill>
              <a:latin typeface="Calibri Light" panose="020F0302020204030204"/>
              <a:cs typeface="Calibri Light" panose="020F0302020204030204"/>
            </a:endParaRPr>
          </a:p>
        </p:txBody>
      </p:sp>
      <p:graphicFrame>
        <p:nvGraphicFramePr>
          <p:cNvPr id="3" name="Content Placeholder 2"/>
          <p:cNvGraphicFramePr>
            <a:graphicFrameLocks noGrp="1"/>
          </p:cNvGraphicFramePr>
          <p:nvPr>
            <p:ph idx="1"/>
          </p:nvPr>
        </p:nvGraphicFramePr>
        <p:xfrm>
          <a:off x="166006" y="1207045"/>
          <a:ext cx="5540829" cy="2743200"/>
        </p:xfrm>
        <a:graphic>
          <a:graphicData uri="http://schemas.openxmlformats.org/drawingml/2006/table">
            <a:tbl>
              <a:tblPr/>
              <a:tblGrid>
                <a:gridCol w="2355976"/>
                <a:gridCol w="3184853"/>
              </a:tblGrid>
              <a:tr h="362669">
                <a:tc>
                  <a:txBody>
                    <a:bodyPr/>
                    <a:lstStyle/>
                    <a:p>
                      <a:pPr algn="l"/>
                      <a:r>
                        <a:rPr lang="en-IN" b="1" dirty="0">
                          <a:solidFill>
                            <a:srgbClr val="BFBFBF"/>
                          </a:solidFill>
                          <a:effectLst/>
                        </a:rPr>
                        <a:t>Item</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solidFill>
                      <a:srgbClr val="121314"/>
                    </a:solidFill>
                  </a:tcPr>
                </a:tc>
                <a:tc>
                  <a:txBody>
                    <a:bodyPr/>
                    <a:lstStyle/>
                    <a:p>
                      <a:pPr algn="l"/>
                      <a:r>
                        <a:rPr lang="en-IN" b="1">
                          <a:solidFill>
                            <a:srgbClr val="BFBFBF"/>
                          </a:solidFill>
                          <a:effectLst/>
                        </a:rPr>
                        <a:t>Spec</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solidFill>
                      <a:srgbClr val="121314"/>
                    </a:solidFill>
                  </a:tcPr>
                </a:tc>
              </a:tr>
              <a:tr h="634671">
                <a:tc>
                  <a:txBody>
                    <a:bodyPr/>
                    <a:lstStyle/>
                    <a:p>
                      <a:pPr algn="l"/>
                      <a:r>
                        <a:rPr lang="en-IN" b="0" dirty="0">
                          <a:effectLst/>
                        </a:rPr>
                        <a:t>OS</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pt-BR" b="0">
                          <a:effectLst/>
                        </a:rPr>
                        <a:t>Windows 10/11, macOS 12+, Ubuntu 20.04+</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362669">
                <a:tc>
                  <a:txBody>
                    <a:bodyPr/>
                    <a:lstStyle/>
                    <a:p>
                      <a:pPr algn="l"/>
                      <a:r>
                        <a:rPr lang="en-IN" b="0" dirty="0">
                          <a:effectLst/>
                        </a:rPr>
                        <a:t>Python</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b="0">
                          <a:effectLst/>
                        </a:rPr>
                        <a:t>3.10 or higher</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362669">
                <a:tc>
                  <a:txBody>
                    <a:bodyPr/>
                    <a:lstStyle/>
                    <a:p>
                      <a:pPr algn="l"/>
                      <a:r>
                        <a:rPr lang="en-IN" b="0" dirty="0">
                          <a:effectLst/>
                        </a:rPr>
                        <a:t>Database</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b="0">
                          <a:effectLst/>
                        </a:rPr>
                        <a:t>SQLite (auto-created, zero config)</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362669">
                <a:tc>
                  <a:txBody>
                    <a:bodyPr/>
                    <a:lstStyle/>
                    <a:p>
                      <a:pPr algn="l"/>
                      <a:r>
                        <a:rPr lang="en-IN" b="0" dirty="0">
                          <a:effectLst/>
                        </a:rPr>
                        <a:t>Internet</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US" b="0" dirty="0">
                          <a:effectLst/>
                        </a:rPr>
                        <a:t>Required only for AI features</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362669">
                <a:tc>
                  <a:txBody>
                    <a:bodyPr/>
                    <a:lstStyle/>
                    <a:p>
                      <a:pPr algn="l"/>
                      <a:r>
                        <a:rPr lang="en-IN" b="0" dirty="0">
                          <a:effectLst/>
                        </a:rPr>
                        <a:t>Port</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b="0" dirty="0">
                          <a:effectLst/>
                        </a:rPr>
                        <a:t>8501 </a:t>
                      </a:r>
                      <a:r>
                        <a:rPr lang="en-IN" b="0" dirty="0" smtClean="0">
                          <a:effectLst/>
                        </a:rPr>
                        <a:t>( </a:t>
                      </a:r>
                      <a:r>
                        <a:rPr lang="en-IN" b="0" dirty="0" err="1">
                          <a:effectLst/>
                        </a:rPr>
                        <a:t>Streamlit</a:t>
                      </a:r>
                      <a:r>
                        <a:rPr lang="en-IN" b="0" dirty="0">
                          <a:effectLst/>
                        </a:rPr>
                        <a:t>)</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bl>
          </a:graphicData>
        </a:graphic>
      </p:graphicFrame>
      <p:sp>
        <p:nvSpPr>
          <p:cNvPr id="4" name="Rectangle 1"/>
          <p:cNvSpPr>
            <a:spLocks noChangeArrowheads="1"/>
          </p:cNvSpPr>
          <p:nvPr/>
        </p:nvSpPr>
        <p:spPr bwMode="auto">
          <a:xfrm>
            <a:off x="458788" y="23050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
            </a:r>
            <a:b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br>
            <a:endPar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p:txBody>
      </p:sp>
      <p:sp>
        <p:nvSpPr>
          <p:cNvPr id="6" name="Rectangle 5"/>
          <p:cNvSpPr/>
          <p:nvPr/>
        </p:nvSpPr>
        <p:spPr>
          <a:xfrm>
            <a:off x="92528" y="4339702"/>
            <a:ext cx="5540829" cy="2308324"/>
          </a:xfrm>
          <a:prstGeom prst="rect">
            <a:avLst/>
          </a:prstGeom>
        </p:spPr>
        <p:txBody>
          <a:bodyPr wrap="square">
            <a:spAutoFit/>
          </a:bodyPr>
          <a:lstStyle/>
          <a:p>
            <a:r>
              <a:rPr lang="en-IN" b="1" dirty="0" smtClean="0"/>
              <a:t> </a:t>
            </a:r>
            <a:r>
              <a:rPr lang="en-IN" b="1" u="sng" dirty="0"/>
              <a:t>Software Requirements</a:t>
            </a:r>
          </a:p>
          <a:p>
            <a:r>
              <a:rPr lang="en-IN" dirty="0"/>
              <a:t>Python 3.10+, pip, Git, VS Code/</a:t>
            </a:r>
            <a:r>
              <a:rPr lang="en-IN" dirty="0" err="1"/>
              <a:t>PyCharm</a:t>
            </a:r>
            <a:r>
              <a:rPr lang="en-IN" dirty="0"/>
              <a:t>, </a:t>
            </a:r>
            <a:r>
              <a:rPr lang="en-IN" dirty="0" err="1"/>
              <a:t>GitHub</a:t>
            </a:r>
            <a:r>
              <a:rPr lang="en-IN" dirty="0"/>
              <a:t> account, </a:t>
            </a:r>
            <a:r>
              <a:rPr lang="en-IN" dirty="0" err="1"/>
              <a:t>Streamlit</a:t>
            </a:r>
            <a:r>
              <a:rPr lang="en-IN" dirty="0"/>
              <a:t> Cloud account, any modern </a:t>
            </a:r>
            <a:r>
              <a:rPr lang="en-IN" dirty="0" smtClean="0"/>
              <a:t>browser</a:t>
            </a:r>
          </a:p>
          <a:p>
            <a:endParaRPr lang="en-US" dirty="0"/>
          </a:p>
          <a:p>
            <a:r>
              <a:rPr lang="en-US" b="1" dirty="0" smtClean="0"/>
              <a:t>Technology used</a:t>
            </a:r>
            <a:r>
              <a:rPr lang="en-US" dirty="0" smtClean="0"/>
              <a:t> –</a:t>
            </a:r>
          </a:p>
          <a:p>
            <a:r>
              <a:rPr lang="en-US" dirty="0" smtClean="0"/>
              <a:t> Python , </a:t>
            </a:r>
            <a:r>
              <a:rPr lang="en-US" dirty="0" err="1" smtClean="0"/>
              <a:t>Streamlit</a:t>
            </a:r>
            <a:r>
              <a:rPr lang="en-US" dirty="0"/>
              <a:t> </a:t>
            </a:r>
            <a:r>
              <a:rPr lang="en-US" dirty="0" smtClean="0"/>
              <a:t>, Google </a:t>
            </a:r>
            <a:r>
              <a:rPr lang="en-US" dirty="0" err="1" smtClean="0"/>
              <a:t>GenAI</a:t>
            </a:r>
            <a:r>
              <a:rPr lang="en-US" dirty="0" smtClean="0"/>
              <a:t> SDK (Gemini API) , IBM Bob </a:t>
            </a:r>
            <a:endParaRPr lang="en-IN" dirty="0" smtClean="0"/>
          </a:p>
          <a:p>
            <a:endParaRPr lang="en-IN" dirty="0"/>
          </a:p>
        </p:txBody>
      </p:sp>
      <p:sp>
        <p:nvSpPr>
          <p:cNvPr id="8" name="Rectangle 2"/>
          <p:cNvSpPr>
            <a:spLocks noChangeArrowheads="1"/>
          </p:cNvSpPr>
          <p:nvPr/>
        </p:nvSpPr>
        <p:spPr bwMode="auto">
          <a:xfrm>
            <a:off x="581025" y="16891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
            </a:r>
            <a:b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br>
            <a:endPar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p:txBody>
      </p:sp>
      <p:graphicFrame>
        <p:nvGraphicFramePr>
          <p:cNvPr id="9" name="Table 8"/>
          <p:cNvGraphicFramePr>
            <a:graphicFrameLocks noGrp="1"/>
          </p:cNvGraphicFramePr>
          <p:nvPr/>
        </p:nvGraphicFramePr>
        <p:xfrm>
          <a:off x="6017080" y="1242351"/>
          <a:ext cx="5772150" cy="4297680"/>
        </p:xfrm>
        <a:graphic>
          <a:graphicData uri="http://schemas.openxmlformats.org/drawingml/2006/table">
            <a:tbl>
              <a:tblPr/>
              <a:tblGrid>
                <a:gridCol w="2609757"/>
                <a:gridCol w="3162393"/>
              </a:tblGrid>
              <a:tr h="339712">
                <a:tc>
                  <a:txBody>
                    <a:bodyPr/>
                    <a:lstStyle/>
                    <a:p>
                      <a:pPr algn="l"/>
                      <a:r>
                        <a:rPr lang="en-IN" b="1">
                          <a:solidFill>
                            <a:srgbClr val="BFBFBF"/>
                          </a:solidFill>
                          <a:effectLst/>
                        </a:rPr>
                        <a:t>Category</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solidFill>
                      <a:srgbClr val="121314"/>
                    </a:solidFill>
                  </a:tcPr>
                </a:tc>
                <a:tc>
                  <a:txBody>
                    <a:bodyPr/>
                    <a:lstStyle/>
                    <a:p>
                      <a:pPr algn="l"/>
                      <a:r>
                        <a:rPr lang="en-IN" b="1">
                          <a:solidFill>
                            <a:srgbClr val="BFBFBF"/>
                          </a:solidFill>
                          <a:effectLst/>
                        </a:rPr>
                        <a:t>Libraries</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solidFill>
                      <a:srgbClr val="121314"/>
                    </a:solidFill>
                  </a:tcPr>
                </a:tc>
              </a:tr>
              <a:tr h="339712">
                <a:tc>
                  <a:txBody>
                    <a:bodyPr/>
                    <a:lstStyle/>
                    <a:p>
                      <a:pPr algn="l"/>
                      <a:r>
                        <a:rPr lang="en-IN" b="0">
                          <a:effectLst/>
                        </a:rPr>
                        <a:t>UI</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b="0">
                          <a:effectLst/>
                        </a:rPr>
                        <a:t>streamlit</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339712">
                <a:tc>
                  <a:txBody>
                    <a:bodyPr/>
                    <a:lstStyle/>
                    <a:p>
                      <a:pPr algn="l"/>
                      <a:r>
                        <a:rPr lang="en-IN" b="0">
                          <a:effectLst/>
                        </a:rPr>
                        <a:t>AI</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b="0">
                          <a:effectLst/>
                        </a:rPr>
                        <a:t>google-genai</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339712">
                <a:tc>
                  <a:txBody>
                    <a:bodyPr/>
                    <a:lstStyle/>
                    <a:p>
                      <a:pPr algn="l"/>
                      <a:r>
                        <a:rPr lang="en-IN" b="0">
                          <a:effectLst/>
                        </a:rPr>
                        <a:t>Database</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b="0">
                          <a:effectLst/>
                        </a:rPr>
                        <a:t>SQLAlchemy, sqlite3</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339712">
                <a:tc>
                  <a:txBody>
                    <a:bodyPr/>
                    <a:lstStyle/>
                    <a:p>
                      <a:pPr algn="l"/>
                      <a:r>
                        <a:rPr lang="en-IN" b="0">
                          <a:effectLst/>
                        </a:rPr>
                        <a:t>Data &amp; Charts</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b="0">
                          <a:effectLst/>
                        </a:rPr>
                        <a:t>pandas, plotly</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339712">
                <a:tc>
                  <a:txBody>
                    <a:bodyPr/>
                    <a:lstStyle/>
                    <a:p>
                      <a:pPr algn="l"/>
                      <a:r>
                        <a:rPr lang="en-IN" b="0">
                          <a:effectLst/>
                        </a:rPr>
                        <a:t>Security</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b="0">
                          <a:effectLst/>
                        </a:rPr>
                        <a:t>bcrypt</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339712">
                <a:tc>
                  <a:txBody>
                    <a:bodyPr/>
                    <a:lstStyle/>
                    <a:p>
                      <a:pPr algn="l"/>
                      <a:r>
                        <a:rPr lang="en-IN" b="0">
                          <a:effectLst/>
                        </a:rPr>
                        <a:t>Config</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b="0">
                          <a:effectLst/>
                        </a:rPr>
                        <a:t>python-dotenv</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339712">
                <a:tc>
                  <a:txBody>
                    <a:bodyPr/>
                    <a:lstStyle/>
                    <a:p>
                      <a:pPr algn="l"/>
                      <a:r>
                        <a:rPr lang="en-IN" b="0" dirty="0">
                          <a:effectLst/>
                        </a:rPr>
                        <a:t>Date/Time</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b="0">
                          <a:effectLst/>
                        </a:rPr>
                        <a:t>python-dateutil, datetime</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339712">
                <a:tc>
                  <a:txBody>
                    <a:bodyPr/>
                    <a:lstStyle/>
                    <a:p>
                      <a:pPr algn="l"/>
                      <a:r>
                        <a:rPr lang="en-IN" b="0">
                          <a:effectLst/>
                        </a:rPr>
                        <a:t>Scheduling</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b="0">
                          <a:effectLst/>
                        </a:rPr>
                        <a:t>schedule</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339712">
                <a:tc>
                  <a:txBody>
                    <a:bodyPr/>
                    <a:lstStyle/>
                    <a:p>
                      <a:pPr algn="l"/>
                      <a:r>
                        <a:rPr lang="en-IN" b="0">
                          <a:effectLst/>
                        </a:rPr>
                        <a:t>Image</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b="0">
                          <a:effectLst/>
                        </a:rPr>
                        <a:t>Pillow</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540782">
                <a:tc>
                  <a:txBody>
                    <a:bodyPr/>
                    <a:lstStyle/>
                    <a:p>
                      <a:pPr algn="l"/>
                      <a:r>
                        <a:rPr lang="en-IN" b="0">
                          <a:effectLst/>
                        </a:rPr>
                        <a:t>Built-in</a:t>
                      </a: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fr-FR" b="0" dirty="0" err="1">
                          <a:effectLst/>
                        </a:rPr>
                        <a:t>json</a:t>
                      </a:r>
                      <a:r>
                        <a:rPr lang="fr-FR" b="0" dirty="0">
                          <a:effectLst/>
                        </a:rPr>
                        <a:t>, os/</a:t>
                      </a:r>
                      <a:r>
                        <a:rPr lang="fr-FR" b="0" dirty="0" err="1">
                          <a:effectLst/>
                        </a:rPr>
                        <a:t>sys</a:t>
                      </a:r>
                      <a:r>
                        <a:rPr lang="fr-FR" b="0" dirty="0">
                          <a:effectLst/>
                        </a:rPr>
                        <a:t>, </a:t>
                      </a:r>
                      <a:r>
                        <a:rPr lang="fr-FR" b="0" dirty="0" err="1">
                          <a:effectLst/>
                        </a:rPr>
                        <a:t>enum</a:t>
                      </a:r>
                      <a:r>
                        <a:rPr lang="fr-FR" b="0" dirty="0">
                          <a:effectLst/>
                        </a:rPr>
                        <a:t>, </a:t>
                      </a:r>
                      <a:r>
                        <a:rPr lang="fr-FR" b="0" dirty="0" err="1">
                          <a:effectLst/>
                        </a:rPr>
                        <a:t>contextlib</a:t>
                      </a:r>
                      <a:r>
                        <a:rPr lang="fr-FR" b="0" dirty="0">
                          <a:effectLst/>
                        </a:rPr>
                        <a:t>, collections, </a:t>
                      </a:r>
                      <a:r>
                        <a:rPr lang="fr-FR" b="0" dirty="0" err="1">
                          <a:effectLst/>
                        </a:rPr>
                        <a:t>hashlib</a:t>
                      </a:r>
                      <a:endParaRPr lang="fr-FR" b="0" dirty="0">
                        <a:effectLst/>
                      </a:endParaRPr>
                    </a:p>
                  </a:txBody>
                  <a:tcPr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bl>
          </a:graphicData>
        </a:graphic>
      </p:graphicFrame>
      <p:sp>
        <p:nvSpPr>
          <p:cNvPr id="10" name="Rectangle 3"/>
          <p:cNvSpPr>
            <a:spLocks noChangeArrowheads="1"/>
          </p:cNvSpPr>
          <p:nvPr/>
        </p:nvSpPr>
        <p:spPr bwMode="auto">
          <a:xfrm>
            <a:off x="581025" y="16891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
            </a:r>
            <a:br>
              <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br>
            <a:endParaRPr kumimoji="0" lang="en-US"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dirty="0">
                <a:solidFill>
                  <a:schemeClr val="accent1"/>
                </a:solidFill>
                <a:latin typeface="Arial" panose="020B0604020202020204"/>
                <a:ea typeface="+mj-lt"/>
                <a:cs typeface="Arial" panose="020B0604020202020204"/>
              </a:rPr>
              <a:t>Algorithm &amp; Deployment</a:t>
            </a:r>
            <a:endParaRPr lang="en-US" dirty="0"/>
          </a:p>
        </p:txBody>
      </p:sp>
      <p:graphicFrame>
        <p:nvGraphicFramePr>
          <p:cNvPr id="3" name="Content Placeholder 2"/>
          <p:cNvGraphicFramePr>
            <a:graphicFrameLocks noGrp="1"/>
          </p:cNvGraphicFramePr>
          <p:nvPr>
            <p:ph idx="1"/>
          </p:nvPr>
        </p:nvGraphicFramePr>
        <p:xfrm>
          <a:off x="179612" y="1240976"/>
          <a:ext cx="10678887" cy="4137375"/>
        </p:xfrm>
        <a:graphic>
          <a:graphicData uri="http://schemas.openxmlformats.org/drawingml/2006/table">
            <a:tbl>
              <a:tblPr/>
              <a:tblGrid>
                <a:gridCol w="1151167"/>
                <a:gridCol w="3110592"/>
                <a:gridCol w="2775858"/>
                <a:gridCol w="3641270"/>
              </a:tblGrid>
              <a:tr h="244211">
                <a:tc>
                  <a:txBody>
                    <a:bodyPr/>
                    <a:lstStyle/>
                    <a:p>
                      <a:pPr algn="l"/>
                      <a:r>
                        <a:rPr lang="en-IN" sz="1400" b="1" dirty="0">
                          <a:solidFill>
                            <a:srgbClr val="BFBFBF"/>
                          </a:solidFill>
                          <a:effectLst/>
                        </a:rPr>
                        <a:t>Algorithm</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solidFill>
                      <a:srgbClr val="121314"/>
                    </a:solidFill>
                  </a:tcPr>
                </a:tc>
                <a:tc>
                  <a:txBody>
                    <a:bodyPr/>
                    <a:lstStyle/>
                    <a:p>
                      <a:pPr algn="l"/>
                      <a:r>
                        <a:rPr lang="en-IN" sz="1400" b="1" dirty="0">
                          <a:solidFill>
                            <a:srgbClr val="BFBFBF"/>
                          </a:solidFill>
                          <a:effectLst/>
                        </a:rPr>
                        <a:t>Type</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solidFill>
                      <a:srgbClr val="121314"/>
                    </a:solidFill>
                  </a:tcPr>
                </a:tc>
                <a:tc>
                  <a:txBody>
                    <a:bodyPr/>
                    <a:lstStyle/>
                    <a:p>
                      <a:pPr algn="l"/>
                      <a:r>
                        <a:rPr lang="en-IN" sz="1400" b="1">
                          <a:solidFill>
                            <a:srgbClr val="BFBFBF"/>
                          </a:solidFill>
                          <a:effectLst/>
                        </a:rPr>
                        <a:t>Where</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solidFill>
                      <a:srgbClr val="121314"/>
                    </a:solidFill>
                  </a:tcPr>
                </a:tc>
                <a:tc>
                  <a:txBody>
                    <a:bodyPr/>
                    <a:lstStyle/>
                    <a:p>
                      <a:endParaRPr lang="en-IN" sz="1400" dirty="0"/>
                    </a:p>
                  </a:txBody>
                  <a:tcPr marL="69755" marR="69755" marT="34878" marB="34878">
                    <a:lnL w="9525" cap="flat" cmpd="sng" algn="ctr">
                      <a:solidFill>
                        <a:srgbClr val="2A2B2C"/>
                      </a:solidFill>
                      <a:prstDash val="solid"/>
                      <a:round/>
                      <a:headEnd type="none" w="med" len="med"/>
                      <a:tailEnd type="none" w="med" len="med"/>
                    </a:lnL>
                    <a:lnB w="9525" cap="flat" cmpd="sng" algn="ctr">
                      <a:solidFill>
                        <a:srgbClr val="2A2B2C"/>
                      </a:solidFill>
                      <a:prstDash val="solid"/>
                      <a:round/>
                      <a:headEnd type="none" w="med" len="med"/>
                      <a:tailEnd type="none" w="med" len="med"/>
                    </a:lnB>
                    <a:solidFill>
                      <a:schemeClr val="tx1"/>
                    </a:solidFill>
                  </a:tcPr>
                </a:tc>
              </a:tr>
              <a:tr h="428251">
                <a:tc>
                  <a:txBody>
                    <a:bodyPr/>
                    <a:lstStyle/>
                    <a:p>
                      <a:pPr algn="l"/>
                      <a:r>
                        <a:rPr lang="en-IN" sz="1400" b="0" dirty="0">
                          <a:effectLst/>
                        </a:rPr>
                        <a:t>1</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1" dirty="0">
                          <a:effectLst/>
                        </a:rPr>
                        <a:t>Adherence Rate Calculation</a:t>
                      </a:r>
                      <a:endParaRPr lang="en-IN" sz="1400" b="0" dirty="0">
                        <a:effectLst/>
                      </a:endParaRP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0">
                          <a:effectLst/>
                        </a:rPr>
                        <a:t>Statistical / Counting</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0">
                          <a:effectLst/>
                        </a:rPr>
                        <a:t>db_manager.get_adherence_stats()</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428251">
                <a:tc>
                  <a:txBody>
                    <a:bodyPr/>
                    <a:lstStyle/>
                    <a:p>
                      <a:pPr algn="l"/>
                      <a:r>
                        <a:rPr lang="en-IN" sz="1400" b="0" dirty="0">
                          <a:effectLst/>
                        </a:rPr>
                        <a:t>2</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1" dirty="0">
                          <a:effectLst/>
                        </a:rPr>
                        <a:t>Threshold-Based Alert</a:t>
                      </a:r>
                      <a:endParaRPr lang="en-IN" sz="1400" b="0" dirty="0">
                        <a:effectLst/>
                      </a:endParaRP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0">
                          <a:effectLst/>
                        </a:rPr>
                        <a:t>Rule-Based Classification</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0">
                          <a:effectLst/>
                        </a:rPr>
                        <a:t>analytics._render_kpi_metrics()</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428251">
                <a:tc>
                  <a:txBody>
                    <a:bodyPr/>
                    <a:lstStyle/>
                    <a:p>
                      <a:pPr algn="l"/>
                      <a:r>
                        <a:rPr lang="en-IN" sz="1400" b="0" dirty="0">
                          <a:effectLst/>
                        </a:rPr>
                        <a:t>3</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1" dirty="0">
                          <a:effectLst/>
                        </a:rPr>
                        <a:t>Sliding Window Trend</a:t>
                      </a:r>
                      <a:endParaRPr lang="en-IN" sz="1400" b="0" dirty="0">
                        <a:effectLst/>
                      </a:endParaRP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0" dirty="0">
                          <a:effectLst/>
                        </a:rPr>
                        <a:t>Sliding Window</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0" dirty="0" err="1">
                          <a:effectLst/>
                        </a:rPr>
                        <a:t>db_manager.get_weekly</a:t>
                      </a:r>
                      <a:r>
                        <a:rPr lang="en-IN" sz="1400" b="0" dirty="0">
                          <a:effectLst/>
                        </a:rPr>
                        <a:t>/</a:t>
                      </a:r>
                      <a:r>
                        <a:rPr lang="en-IN" sz="1400" b="0" dirty="0" err="1">
                          <a:effectLst/>
                        </a:rPr>
                        <a:t>monthly_adherence</a:t>
                      </a:r>
                      <a:r>
                        <a:rPr lang="en-IN" sz="1400" b="0" dirty="0">
                          <a:effectLst/>
                        </a:rPr>
                        <a:t>()</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428251">
                <a:tc>
                  <a:txBody>
                    <a:bodyPr/>
                    <a:lstStyle/>
                    <a:p>
                      <a:pPr algn="l"/>
                      <a:r>
                        <a:rPr lang="en-IN" sz="1400" b="0" dirty="0">
                          <a:effectLst/>
                        </a:rPr>
                        <a:t>4</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1" dirty="0">
                          <a:effectLst/>
                        </a:rPr>
                        <a:t>Duplicate Dose Detection</a:t>
                      </a:r>
                      <a:endParaRPr lang="en-IN" sz="1400" b="0" dirty="0">
                        <a:effectLst/>
                      </a:endParaRP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0" dirty="0">
                          <a:effectLst/>
                        </a:rPr>
                        <a:t>Range Query (±30 min)</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0" dirty="0" err="1">
                          <a:effectLst/>
                        </a:rPr>
                        <a:t>db_manager.get_existing_log</a:t>
                      </a:r>
                      <a:r>
                        <a:rPr lang="en-IN" sz="1400" b="0" dirty="0">
                          <a:effectLst/>
                        </a:rPr>
                        <a:t>()</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428251">
                <a:tc>
                  <a:txBody>
                    <a:bodyPr/>
                    <a:lstStyle/>
                    <a:p>
                      <a:pPr algn="l"/>
                      <a:r>
                        <a:rPr lang="en-IN" sz="1400" b="0" dirty="0">
                          <a:effectLst/>
                        </a:rPr>
                        <a:t>5</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1">
                          <a:effectLst/>
                        </a:rPr>
                        <a:t>Reminder Scheduling &amp; Filtering</a:t>
                      </a:r>
                      <a:endParaRPr lang="en-IN" sz="1400" b="0">
                        <a:effectLst/>
                      </a:endParaRP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0">
                          <a:effectLst/>
                        </a:rPr>
                        <a:t>Event Scheduling / Time-Window</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0" dirty="0">
                          <a:effectLst/>
                        </a:rPr>
                        <a:t>reminders._</a:t>
                      </a:r>
                      <a:r>
                        <a:rPr lang="en-IN" sz="1400" b="0" dirty="0" err="1">
                          <a:effectLst/>
                        </a:rPr>
                        <a:t>ensure_todays_reminders</a:t>
                      </a:r>
                      <a:r>
                        <a:rPr lang="en-IN" sz="1400" b="0" dirty="0">
                          <a:effectLst/>
                        </a:rPr>
                        <a:t>()</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428251">
                <a:tc>
                  <a:txBody>
                    <a:bodyPr/>
                    <a:lstStyle/>
                    <a:p>
                      <a:pPr algn="l"/>
                      <a:r>
                        <a:rPr lang="en-IN" sz="1400" b="0" dirty="0">
                          <a:effectLst/>
                        </a:rPr>
                        <a:t>6</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1">
                          <a:effectLst/>
                        </a:rPr>
                        <a:t>bcrypt Password Hashing</a:t>
                      </a:r>
                      <a:endParaRPr lang="en-IN" sz="1400" b="0">
                        <a:effectLst/>
                      </a:endParaRP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0" dirty="0">
                          <a:effectLst/>
                        </a:rPr>
                        <a:t>Cryptographic (Blowfish)</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0" dirty="0" err="1">
                          <a:effectLst/>
                        </a:rPr>
                        <a:t>db_manager.hash_password</a:t>
                      </a:r>
                      <a:r>
                        <a:rPr lang="en-IN" sz="1400" b="0" dirty="0">
                          <a:effectLst/>
                        </a:rPr>
                        <a:t>()</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428251">
                <a:tc>
                  <a:txBody>
                    <a:bodyPr/>
                    <a:lstStyle/>
                    <a:p>
                      <a:pPr algn="l"/>
                      <a:r>
                        <a:rPr lang="en-IN" sz="1400" b="0" dirty="0">
                          <a:effectLst/>
                        </a:rPr>
                        <a:t>7</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1">
                          <a:effectLst/>
                        </a:rPr>
                        <a:t>AI Prompt Construction (Multi-turn)</a:t>
                      </a:r>
                      <a:endParaRPr lang="en-IN" sz="1400" b="0">
                        <a:effectLst/>
                      </a:endParaRP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0">
                          <a:effectLst/>
                        </a:rPr>
                        <a:t>LLM Context Management</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0" dirty="0" err="1">
                          <a:effectLst/>
                        </a:rPr>
                        <a:t>ai_engine.chat_with_ai</a:t>
                      </a:r>
                      <a:r>
                        <a:rPr lang="en-IN" sz="1400" b="0" dirty="0">
                          <a:effectLst/>
                        </a:rPr>
                        <a:t>()</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428251">
                <a:tc>
                  <a:txBody>
                    <a:bodyPr/>
                    <a:lstStyle/>
                    <a:p>
                      <a:pPr algn="l"/>
                      <a:r>
                        <a:rPr lang="en-IN" sz="1400" b="0" dirty="0">
                          <a:effectLst/>
                        </a:rPr>
                        <a:t>8</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1">
                          <a:effectLst/>
                        </a:rPr>
                        <a:t>Per-Medication Aggregation</a:t>
                      </a:r>
                      <a:endParaRPr lang="en-IN" sz="1400" b="0">
                        <a:effectLst/>
                      </a:endParaRP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0">
                          <a:effectLst/>
                        </a:rPr>
                        <a:t>Hash Map Grouping</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c>
                  <a:txBody>
                    <a:bodyPr/>
                    <a:lstStyle/>
                    <a:p>
                      <a:pPr algn="l"/>
                      <a:r>
                        <a:rPr lang="en-IN" sz="1400" b="0" dirty="0">
                          <a:effectLst/>
                        </a:rPr>
                        <a:t>analytics._</a:t>
                      </a:r>
                      <a:r>
                        <a:rPr lang="en-IN" sz="1400" b="0" dirty="0" err="1">
                          <a:effectLst/>
                        </a:rPr>
                        <a:t>render_medication_breakdown</a:t>
                      </a:r>
                      <a:r>
                        <a:rPr lang="en-IN" sz="1400" b="0" dirty="0">
                          <a:effectLst/>
                        </a:rPr>
                        <a:t>()</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tcPr>
                </a:tc>
              </a:tr>
              <a:tr h="428251">
                <a:tc>
                  <a:txBody>
                    <a:bodyPr/>
                    <a:lstStyle/>
                    <a:p>
                      <a:pPr algn="l"/>
                      <a:r>
                        <a:rPr lang="en-IN" sz="1400" b="0" dirty="0">
                          <a:effectLst/>
                        </a:rPr>
                        <a:t>9</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noFill/>
                  </a:tcPr>
                </a:tc>
                <a:tc>
                  <a:txBody>
                    <a:bodyPr/>
                    <a:lstStyle/>
                    <a:p>
                      <a:pPr algn="l"/>
                      <a:r>
                        <a:rPr lang="en-IN" sz="1400" b="1" dirty="0">
                          <a:effectLst/>
                        </a:rPr>
                        <a:t>Role-Based Routing (RBAC)</a:t>
                      </a:r>
                      <a:endParaRPr lang="en-IN" sz="1400" b="0" dirty="0">
                        <a:effectLst/>
                      </a:endParaRP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noFill/>
                  </a:tcPr>
                </a:tc>
                <a:tc>
                  <a:txBody>
                    <a:bodyPr/>
                    <a:lstStyle/>
                    <a:p>
                      <a:pPr algn="l"/>
                      <a:r>
                        <a:rPr lang="en-IN" sz="1400" b="0" dirty="0">
                          <a:effectLst/>
                        </a:rPr>
                        <a:t>Access Control</a:t>
                      </a: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noFill/>
                  </a:tcPr>
                </a:tc>
                <a:tc>
                  <a:txBody>
                    <a:bodyPr/>
                    <a:lstStyle/>
                    <a:p>
                      <a:pPr algn="l"/>
                      <a:r>
                        <a:rPr lang="en-IN" sz="1400" b="0" dirty="0">
                          <a:effectLst/>
                        </a:rPr>
                        <a:t>app.py main</a:t>
                      </a:r>
                      <a:r>
                        <a:rPr lang="en-IN" sz="1400" b="0" dirty="0" smtClean="0">
                          <a:effectLst/>
                        </a:rPr>
                        <a:t>()</a:t>
                      </a:r>
                      <a:endParaRPr lang="en-IN" sz="1400" b="0" dirty="0">
                        <a:effectLst/>
                      </a:endParaRPr>
                    </a:p>
                  </a:txBody>
                  <a:tcPr marL="69755" marR="69755" marT="34878" marB="34878" anchor="ctr">
                    <a:lnL w="9525" cap="flat" cmpd="sng" algn="ctr">
                      <a:solidFill>
                        <a:srgbClr val="2A2B2C"/>
                      </a:solidFill>
                      <a:prstDash val="solid"/>
                      <a:round/>
                      <a:headEnd type="none" w="med" len="med"/>
                      <a:tailEnd type="none" w="med" len="med"/>
                    </a:lnL>
                    <a:lnR w="9525" cap="flat" cmpd="sng" algn="ctr">
                      <a:solidFill>
                        <a:srgbClr val="2A2B2C"/>
                      </a:solidFill>
                      <a:prstDash val="solid"/>
                      <a:round/>
                      <a:headEnd type="none" w="med" len="med"/>
                      <a:tailEnd type="none" w="med" len="med"/>
                    </a:lnR>
                    <a:lnT w="9525" cap="flat" cmpd="sng" algn="ctr">
                      <a:solidFill>
                        <a:srgbClr val="2A2B2C"/>
                      </a:solidFill>
                      <a:prstDash val="solid"/>
                      <a:round/>
                      <a:headEnd type="none" w="med" len="med"/>
                      <a:tailEnd type="none" w="med" len="med"/>
                    </a:lnT>
                    <a:lnB w="9525" cap="flat" cmpd="sng" algn="ctr">
                      <a:solidFill>
                        <a:srgbClr val="2A2B2C"/>
                      </a:solidFill>
                      <a:prstDash val="solid"/>
                      <a:round/>
                      <a:headEnd type="none" w="med" len="med"/>
                      <a:tailEnd type="none" w="med" len="med"/>
                    </a:lnB>
                    <a:noFill/>
                  </a:tcPr>
                </a:tc>
              </a:tr>
            </a:tbl>
          </a:graphicData>
        </a:graphic>
      </p:graphicFrame>
      <p:sp>
        <p:nvSpPr>
          <p:cNvPr id="4" name="TextBox 3"/>
          <p:cNvSpPr txBox="1"/>
          <p:nvPr/>
        </p:nvSpPr>
        <p:spPr>
          <a:xfrm>
            <a:off x="236764" y="5804807"/>
            <a:ext cx="5347607" cy="646331"/>
          </a:xfrm>
          <a:prstGeom prst="rect">
            <a:avLst/>
          </a:prstGeom>
          <a:noFill/>
        </p:spPr>
        <p:txBody>
          <a:bodyPr wrap="square" rtlCol="0">
            <a:spAutoFit/>
          </a:bodyPr>
          <a:lstStyle/>
          <a:p>
            <a:pPr marL="285750" indent="-285750">
              <a:buFont typeface="Arial" panose="020B0604020202020204" pitchFamily="34" charset="0"/>
              <a:buChar char="•"/>
            </a:pPr>
            <a:r>
              <a:rPr lang="en-US" b="1" dirty="0" smtClean="0"/>
              <a:t>DEPLOYMENT</a:t>
            </a:r>
            <a:r>
              <a:rPr lang="en-US" dirty="0" smtClean="0"/>
              <a:t> –</a:t>
            </a:r>
            <a:r>
              <a:rPr lang="en-US" dirty="0" err="1" smtClean="0"/>
              <a:t>Streamlit</a:t>
            </a:r>
            <a:r>
              <a:rPr lang="en-US" dirty="0" smtClean="0"/>
              <a:t> based web application hosted on cloud infrastructure for real time access </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RESULT</a:t>
            </a:r>
            <a:endParaRPr lang="en-US" dirty="0">
              <a:solidFill>
                <a:schemeClr val="accent1"/>
              </a:solidFill>
            </a:endParaRP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1281" y="1232452"/>
            <a:ext cx="10337745" cy="5261513"/>
          </a:xfrm>
        </p:spPr>
      </p:pic>
    </p:spTree>
    <p:extLst>
      <p:ext uri="{BB962C8B-B14F-4D97-AF65-F5344CB8AC3E}">
        <p14:creationId xmlns:p14="http://schemas.microsoft.com/office/powerpoint/2010/main" val="2385408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Result</a:t>
            </a:r>
            <a:endParaRPr lang="en-US"/>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l="335" t="3669" r="-335" b="16226"/>
          <a:stretch>
            <a:fillRect/>
          </a:stretch>
        </p:blipFill>
        <p:spPr>
          <a:xfrm>
            <a:off x="252674" y="1220106"/>
            <a:ext cx="10434376" cy="5294993"/>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result</a:t>
            </a:r>
            <a:endParaRPr lang="en-IN" dirty="0">
              <a:solidFill>
                <a:schemeClr val="accent1"/>
              </a:solidFill>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783" y="1326242"/>
            <a:ext cx="5426903" cy="5368471"/>
          </a:xfr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8721" y="1306286"/>
            <a:ext cx="5608864" cy="534760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accent1"/>
            </a:solidFill>
          </a:ln>
        </p:spPr>
        <p:txBody>
          <a:bodyPr/>
          <a:lstStyle/>
          <a:p>
            <a:r>
              <a:rPr lang="en-US" dirty="0" smtClean="0">
                <a:solidFill>
                  <a:schemeClr val="accent1"/>
                </a:solidFill>
              </a:rPr>
              <a:t>Result </a:t>
            </a:r>
            <a:endParaRPr lang="en-IN" dirty="0">
              <a:solidFill>
                <a:schemeClr val="accent1"/>
              </a:solidFill>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558" y="1367063"/>
            <a:ext cx="9990127" cy="5376635"/>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result</a:t>
            </a:r>
            <a:endParaRPr lang="en-IN" dirty="0">
              <a:solidFill>
                <a:schemeClr val="accent1"/>
              </a:solidFill>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81025" y="1308197"/>
            <a:ext cx="11029950" cy="4660705"/>
          </a:xfr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9549" y="775634"/>
            <a:ext cx="11029616" cy="530296"/>
          </a:xfrm>
        </p:spPr>
        <p:txBody>
          <a:bodyPr/>
          <a:lstStyle/>
          <a:p>
            <a:r>
              <a:rPr lang="en-US" dirty="0" smtClean="0">
                <a:solidFill>
                  <a:schemeClr val="accent1"/>
                </a:solidFill>
              </a:rPr>
              <a:t>result</a:t>
            </a:r>
            <a:endParaRPr lang="en-IN" dirty="0">
              <a:solidFill>
                <a:schemeClr val="accent1"/>
              </a:solidFill>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2300" y="1881414"/>
            <a:ext cx="9812514" cy="4673600"/>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Conclusion</a:t>
            </a:r>
            <a:endParaRPr lang="en-US"/>
          </a:p>
        </p:txBody>
      </p:sp>
      <p:sp>
        <p:nvSpPr>
          <p:cNvPr id="2" name="Content Placeholder 1"/>
          <p:cNvSpPr>
            <a:spLocks noGrp="1"/>
          </p:cNvSpPr>
          <p:nvPr>
            <p:ph idx="1"/>
          </p:nvPr>
        </p:nvSpPr>
        <p:spPr/>
        <p:txBody>
          <a:bodyPr>
            <a:normAutofit/>
          </a:bodyPr>
          <a:lstStyle/>
          <a:p>
            <a:r>
              <a:rPr lang="en-US" sz="2000" dirty="0">
                <a:latin typeface="Arial Unicode MS" panose="020B0604020202020204" pitchFamily="34" charset="-128"/>
                <a:ea typeface="Arial Unicode MS" panose="020B0604020202020204" pitchFamily="34" charset="-128"/>
                <a:cs typeface="Arial Unicode MS" panose="020B0604020202020204" pitchFamily="34" charset="-128"/>
              </a:rPr>
              <a:t>The proposed </a:t>
            </a:r>
            <a:r>
              <a:rPr lang="en-US" sz="2000" b="1" dirty="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Medication Adherence Tracker for Chronic </a:t>
            </a:r>
            <a:r>
              <a:rPr lang="en-US" sz="2000" b="1" dirty="0" smtClean="0">
                <a:solidFill>
                  <a:schemeClr val="tx1"/>
                </a:solidFill>
                <a:latin typeface="Arial Unicode MS" panose="020B0604020202020204" pitchFamily="34" charset="-128"/>
                <a:ea typeface="Arial Unicode MS" panose="020B0604020202020204" pitchFamily="34" charset="-128"/>
                <a:cs typeface="Arial Unicode MS" panose="020B0604020202020204" pitchFamily="34" charset="-128"/>
              </a:rPr>
              <a:t>Patients </a:t>
            </a:r>
            <a:r>
              <a:rPr lang="en-US" sz="2000" dirty="0" smtClean="0">
                <a:latin typeface="Arial Unicode MS" panose="020B0604020202020204" pitchFamily="34" charset="-128"/>
                <a:ea typeface="Arial Unicode MS" panose="020B0604020202020204" pitchFamily="34" charset="-128"/>
                <a:cs typeface="Arial Unicode MS" panose="020B0604020202020204" pitchFamily="34" charset="-128"/>
              </a:rPr>
              <a:t>aims </a:t>
            </a:r>
            <a:r>
              <a:rPr lang="en-US" sz="2000" dirty="0">
                <a:latin typeface="Arial Unicode MS" panose="020B0604020202020204" pitchFamily="34" charset="-128"/>
                <a:ea typeface="Arial Unicode MS" panose="020B0604020202020204" pitchFamily="34" charset="-128"/>
                <a:cs typeface="Arial Unicode MS" panose="020B0604020202020204" pitchFamily="34" charset="-128"/>
              </a:rPr>
              <a:t>to address the challenges faced by chronic disease patients in following their prescribed medication schedules. By integrating personalized medication reminders, dose confirmation, adherence tracking, and timely notifications, the system provides a practical and accessible approach to supporting medication adherence.</a:t>
            </a:r>
          </a:p>
          <a:p>
            <a:r>
              <a:rPr lang="en-US" sz="2000" dirty="0">
                <a:latin typeface="Arial Unicode MS" panose="020B0604020202020204" pitchFamily="34" charset="-128"/>
                <a:ea typeface="Arial Unicode MS" panose="020B0604020202020204" pitchFamily="34" charset="-128"/>
                <a:cs typeface="Arial Unicode MS" panose="020B0604020202020204" pitchFamily="34" charset="-128"/>
              </a:rPr>
              <a:t>The system also improves communication between patients, caregivers, and healthcare providers by offering authorized access to medication-taking records and adherence reports. This visibility can help caregivers identify missed doses and enable healthcare professionals to recognize potential adherence concerns at an earlier stage</a:t>
            </a:r>
            <a:r>
              <a:rPr lang="en-US" sz="2000" dirty="0" smtClean="0"/>
              <a:t>.</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marL="0" indent="0">
              <a:buNone/>
            </a:pPr>
            <a:endParaRPr lang="en-US" sz="2000" b="1" dirty="0" smtClean="0"/>
          </a:p>
          <a:p>
            <a:pPr marL="0" indent="0">
              <a:buNone/>
            </a:pPr>
            <a:r>
              <a:rPr lang="en-US" b="1" dirty="0" smtClean="0"/>
              <a:t>1.Smart </a:t>
            </a:r>
            <a:r>
              <a:rPr lang="en-US" b="1" dirty="0"/>
              <a:t>Pillbox Integration</a:t>
            </a:r>
          </a:p>
          <a:p>
            <a:pPr marL="0" indent="0">
              <a:buNone/>
            </a:pPr>
            <a:r>
              <a:rPr lang="en-US" dirty="0"/>
              <a:t>The system can be integrated with </a:t>
            </a:r>
            <a:r>
              <a:rPr lang="en-US" dirty="0" err="1"/>
              <a:t>IoT</a:t>
            </a:r>
            <a:r>
              <a:rPr lang="en-US" dirty="0"/>
              <a:t>-enabled smart pillboxes that detect when medication compartments are opened. This can provide additional evidence of medication-taking activity and reduce reliance solely on manual </a:t>
            </a:r>
            <a:r>
              <a:rPr lang="en-US" dirty="0" smtClean="0"/>
              <a:t>confirmation. </a:t>
            </a:r>
          </a:p>
          <a:p>
            <a:pPr marL="0" indent="0">
              <a:buNone/>
            </a:pPr>
            <a:r>
              <a:rPr lang="en-US" b="1" dirty="0" smtClean="0"/>
              <a:t>2. AI-Based </a:t>
            </a:r>
            <a:r>
              <a:rPr lang="en-US" b="1" dirty="0"/>
              <a:t>Adherence Prediction</a:t>
            </a:r>
          </a:p>
          <a:p>
            <a:pPr marL="0" indent="0">
              <a:buNone/>
            </a:pPr>
            <a:r>
              <a:rPr lang="en-US" dirty="0" smtClean="0"/>
              <a:t>Machine </a:t>
            </a:r>
            <a:r>
              <a:rPr lang="en-US" dirty="0"/>
              <a:t>learning algorithms can be incorporated to analyze medication history, missed-dose patterns, and patient behavior. The system could identify patients at higher risk of non-adherence and support early intervention.</a:t>
            </a:r>
          </a:p>
          <a:p>
            <a:pPr marL="0" indent="0">
              <a:buNone/>
            </a:pPr>
            <a:r>
              <a:rPr lang="en-US" b="1" dirty="0"/>
              <a:t>3. Integration with Wearable Devices</a:t>
            </a:r>
          </a:p>
          <a:p>
            <a:pPr marL="0" indent="0">
              <a:buNone/>
            </a:pPr>
            <a:r>
              <a:rPr lang="en-US" dirty="0" smtClean="0"/>
              <a:t>Future </a:t>
            </a:r>
            <a:r>
              <a:rPr lang="en-US" dirty="0"/>
              <a:t>versions may connect with </a:t>
            </a:r>
            <a:r>
              <a:rPr lang="en-US" dirty="0" smtClean="0"/>
              <a:t>smart watches </a:t>
            </a:r>
            <a:r>
              <a:rPr lang="en-US" dirty="0"/>
              <a:t>and other wearable devices to monitor relevant health indicators, such as heart rate, blood pressure, or glucose levels, where supported. This could help provide a more comprehensive view of a patient's health management.</a:t>
            </a:r>
          </a:p>
          <a:p>
            <a:pPr marL="0" indent="0">
              <a:buNone/>
            </a:pPr>
            <a:r>
              <a:rPr lang="en-US" b="1" dirty="0"/>
              <a:t>4. Integration with Electronic Health Records</a:t>
            </a:r>
          </a:p>
          <a:p>
            <a:pPr marL="0" indent="0">
              <a:buNone/>
            </a:pPr>
            <a:r>
              <a:rPr lang="en-US" dirty="0"/>
              <a:t>The system could be connected with electronic health record platforms to allow authorized healthcare providers to access relevant medication information and adherence reports, reducing duplicate data entry and improving continuity of care.</a:t>
            </a:r>
          </a:p>
          <a:p>
            <a:pPr marL="305435" indent="-305435"/>
            <a:endParaRPr lang="en-US" dirty="0"/>
          </a:p>
        </p:txBody>
      </p:sp>
      <p:sp>
        <p:nvSpPr>
          <p:cNvPr id="5" name="Title 4"/>
          <p:cNvSpPr txBox="1"/>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a:solidFill>
                  <a:schemeClr val="accent1"/>
                </a:solidFill>
                <a:latin typeface="Arial" panose="020B0604020202020204"/>
                <a:cs typeface="Arial" panose="020B0604020202020204"/>
              </a:rPr>
              <a:t>Future scope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References</a:t>
            </a:r>
            <a:endParaRPr lang="en-US"/>
          </a:p>
        </p:txBody>
      </p:sp>
      <p:sp>
        <p:nvSpPr>
          <p:cNvPr id="2" name="Content Placeholder 1"/>
          <p:cNvSpPr>
            <a:spLocks noGrp="1"/>
          </p:cNvSpPr>
          <p:nvPr>
            <p:ph idx="1"/>
          </p:nvPr>
        </p:nvSpPr>
        <p:spPr/>
        <p:txBody>
          <a:bodyPr>
            <a:normAutofit/>
          </a:bodyPr>
          <a:lstStyle/>
          <a:p>
            <a:r>
              <a:rPr lang="en-IN" sz="2400" b="1" dirty="0"/>
              <a:t>AI Development Assistant:</a:t>
            </a:r>
            <a:r>
              <a:rPr lang="en-IN" sz="2400" dirty="0"/>
              <a:t> IBM, </a:t>
            </a:r>
            <a:r>
              <a:rPr lang="en-IN" sz="2400" i="1" dirty="0"/>
              <a:t>IBM Bob: AI-Powered Development Partner and Coding Agent</a:t>
            </a:r>
            <a:r>
              <a:rPr lang="en-IN" sz="2400" dirty="0"/>
              <a:t>, available at: </a:t>
            </a:r>
            <a:r>
              <a:rPr lang="en-IN" sz="2400" dirty="0">
                <a:hlinkClick r:id="rId2"/>
              </a:rPr>
              <a:t>https://bob.ibm.com</a:t>
            </a:r>
            <a:endParaRPr lang="en-IN" sz="2400" dirty="0"/>
          </a:p>
          <a:p>
            <a:r>
              <a:rPr lang="en-IN" sz="2400" b="1" dirty="0"/>
              <a:t>Google </a:t>
            </a:r>
            <a:r>
              <a:rPr lang="en-IN" sz="2400" b="1" dirty="0" err="1"/>
              <a:t>GenAI</a:t>
            </a:r>
            <a:r>
              <a:rPr lang="en-IN" sz="2400" b="1" dirty="0"/>
              <a:t> SDK Documentation:</a:t>
            </a:r>
            <a:r>
              <a:rPr lang="en-IN" sz="2400" dirty="0"/>
              <a:t> Google Developers, </a:t>
            </a:r>
            <a:r>
              <a:rPr lang="en-IN" sz="2400" i="1" dirty="0"/>
              <a:t>Google </a:t>
            </a:r>
            <a:r>
              <a:rPr lang="en-IN" sz="2400" i="1" dirty="0" err="1"/>
              <a:t>GenAI</a:t>
            </a:r>
            <a:r>
              <a:rPr lang="en-IN" sz="2400" i="1" dirty="0"/>
              <a:t> Python SDK and API Reference Guide</a:t>
            </a:r>
            <a:r>
              <a:rPr lang="en-IN" sz="2400" dirty="0"/>
              <a:t>, available at: </a:t>
            </a:r>
            <a:r>
              <a:rPr lang="en-IN" sz="2400" dirty="0">
                <a:solidFill>
                  <a:srgbClr val="92D050"/>
                </a:solidFill>
                <a:hlinkClick r:id="rId3"/>
              </a:rPr>
              <a:t>https://aistudio.google.com/</a:t>
            </a:r>
            <a:endParaRPr lang="en-IN" sz="2400" dirty="0">
              <a:solidFill>
                <a:srgbClr val="92D050"/>
              </a:solidFill>
            </a:endParaRPr>
          </a:p>
          <a:p>
            <a:pPr lvl="0"/>
            <a:r>
              <a:rPr lang="en-IN" sz="2400" b="1" dirty="0" err="1"/>
              <a:t>Streamlit</a:t>
            </a:r>
            <a:r>
              <a:rPr lang="en-IN" sz="2400" b="1" dirty="0"/>
              <a:t> Documentation:</a:t>
            </a:r>
            <a:r>
              <a:rPr lang="en-IN" sz="2400" dirty="0"/>
              <a:t> </a:t>
            </a:r>
            <a:r>
              <a:rPr lang="en-IN" sz="2400" dirty="0" err="1"/>
              <a:t>Streamlit</a:t>
            </a:r>
            <a:r>
              <a:rPr lang="en-IN" sz="2400" dirty="0"/>
              <a:t> Inc., </a:t>
            </a:r>
            <a:r>
              <a:rPr lang="en-IN" sz="2400" i="1" dirty="0" err="1"/>
              <a:t>Streamlit</a:t>
            </a:r>
            <a:r>
              <a:rPr lang="en-IN" sz="2400" i="1" dirty="0"/>
              <a:t> Documentation: Building Web Apps in Python</a:t>
            </a:r>
            <a:r>
              <a:rPr lang="en-IN" sz="2400" dirty="0"/>
              <a:t>, available at: </a:t>
            </a:r>
            <a:r>
              <a:rPr lang="en-IN" sz="2400" dirty="0">
                <a:hlinkClick r:id="rId3"/>
              </a:rPr>
              <a:t>https://streamlit.io/</a:t>
            </a:r>
            <a:endParaRPr lang="en-IN" sz="2400" dirty="0"/>
          </a:p>
          <a:p>
            <a:pPr lvl="0"/>
            <a:r>
              <a:rPr lang="en-IN" sz="2400" b="1" dirty="0"/>
              <a:t>Python Software Foundation:</a:t>
            </a:r>
            <a:r>
              <a:rPr lang="en-IN" sz="2400" dirty="0"/>
              <a:t> Python Documentation — Python 3.x, available at: </a:t>
            </a:r>
            <a:r>
              <a:rPr lang="en-IN" sz="2400" dirty="0">
                <a:hlinkClick r:id="rId4"/>
              </a:rPr>
              <a:t>https://docs.python.org</a:t>
            </a:r>
            <a:endParaRPr lang="en-IN" sz="2400" dirty="0"/>
          </a:p>
          <a:p>
            <a:pPr marL="305435" indent="-305435"/>
            <a:endParaRPr lang="en-IN"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Deployment link / </a:t>
            </a:r>
            <a:r>
              <a:rPr lang="en-IN" dirty="0" err="1"/>
              <a:t>github</a:t>
            </a:r>
            <a:r>
              <a:rPr lang="en-IN" dirty="0"/>
              <a:t> link</a:t>
            </a:r>
          </a:p>
        </p:txBody>
      </p:sp>
      <p:sp>
        <p:nvSpPr>
          <p:cNvPr id="3" name="Content Placeholder 2"/>
          <p:cNvSpPr>
            <a:spLocks noGrp="1"/>
          </p:cNvSpPr>
          <p:nvPr>
            <p:ph idx="1"/>
          </p:nvPr>
        </p:nvSpPr>
        <p:spPr/>
        <p:txBody>
          <a:bodyPr/>
          <a:lstStyle/>
          <a:p>
            <a:pPr marL="305435" indent="-305435"/>
            <a:r>
              <a:rPr lang="en-IN" dirty="0" err="1"/>
              <a:t>Github</a:t>
            </a:r>
            <a:r>
              <a:rPr lang="en-IN" dirty="0"/>
              <a:t> Link:</a:t>
            </a:r>
            <a:r>
              <a:rPr lang="en-US" altLang="en-IN" dirty="0"/>
              <a:t> </a:t>
            </a:r>
            <a:r>
              <a:rPr lang="en-US" dirty="0">
                <a:hlinkClick r:id="rId2" action="ppaction://hlinkfile"/>
              </a:rPr>
              <a:t>https://github.com/mittalsneha102002-tech/Medication-Adherence-Tracker-for-Chronic-Patients.git</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datastoreItem>
</file>

<file path=customXml/itemProps2.xml><?xml version="1.0" encoding="utf-8"?>
<ds:datastoreItem xmlns:ds="http://schemas.openxmlformats.org/officeDocument/2006/customXml" ds:itemID="{6E816721-11E4-4989-8472-AB5A7EC20404}">
  <ds:schemaRefs/>
</ds:datastoreItem>
</file>

<file path=customXml/itemProps3.xml><?xml version="1.0" encoding="utf-8"?>
<ds:datastoreItem xmlns:ds="http://schemas.openxmlformats.org/officeDocument/2006/customXml" ds:itemID="{927BD4C1-B6B1-4715-ABF9-E660A51A4EA0}">
  <ds:schemaRefs/>
</ds:datastoreItem>
</file>

<file path=docProps/app.xml><?xml version="1.0" encoding="utf-8"?>
<Properties xmlns="http://schemas.openxmlformats.org/officeDocument/2006/extended-properties" xmlns:vt="http://schemas.openxmlformats.org/officeDocument/2006/docPropsVTypes">
  <Template>Future forward</Template>
  <TotalTime>3</TotalTime>
  <Words>1055</Words>
  <Application>Microsoft Office PowerPoint</Application>
  <PresentationFormat>Widescreen</PresentationFormat>
  <Paragraphs>174</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 Unicode MS</vt:lpstr>
      <vt:lpstr>Agency FB</vt:lpstr>
      <vt:lpstr>Arial</vt:lpstr>
      <vt:lpstr>Calibri</vt:lpstr>
      <vt:lpstr>Calibri Light</vt:lpstr>
      <vt:lpstr>Franklin Gothic Book</vt:lpstr>
      <vt:lpstr>Franklin Gothic Demi</vt:lpstr>
      <vt:lpstr>Wingdings 2</vt:lpstr>
      <vt:lpstr>DividendVTI</vt:lpstr>
      <vt:lpstr>Medication Adherence Tracker for Chronic Patients</vt:lpstr>
      <vt:lpstr>OUTLINE</vt:lpstr>
      <vt:lpstr>Problem Statement</vt:lpstr>
      <vt:lpstr>Proposed Solution</vt:lpstr>
      <vt:lpstr>System  Approach</vt:lpstr>
      <vt:lpstr>Algorithm &amp; Deployment</vt:lpstr>
      <vt:lpstr>RESULT</vt:lpstr>
      <vt:lpstr>Result</vt:lpstr>
      <vt:lpstr>result</vt:lpstr>
      <vt:lpstr>Result </vt:lpstr>
      <vt:lpstr>result</vt:lpstr>
      <vt:lpstr>result</vt:lpstr>
      <vt:lpstr>Conclusion</vt:lpstr>
      <vt:lpstr>PowerPoint Presentation</vt:lpstr>
      <vt:lpstr>References</vt:lpstr>
      <vt:lpstr>Deployment link / github link</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Microsoft account</cp:lastModifiedBy>
  <cp:revision>15</cp:revision>
  <dcterms:created xsi:type="dcterms:W3CDTF">2021-05-26T16:50:00Z</dcterms:created>
  <dcterms:modified xsi:type="dcterms:W3CDTF">2026-09-19T08:42:43Z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y fmtid="{D5CDD505-2E9C-101B-9397-08002B2CF9AE}" pid="3" name="ICV">
    <vt:lpwstr>8A3917EEE4F44C738E5C944036B4DCF6_12</vt:lpwstr>
  </property>
  <property fmtid="{D5CDD505-2E9C-101B-9397-08002B2CF9AE}" pid="4" name="KSOProductBuildVer">
    <vt:lpwstr>1033-12.1.0.28485</vt:lpwstr>
  </property>
</Properties>
</file>